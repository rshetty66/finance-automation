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 y="0"/>
            <a:ext cx="12115800" cy="54864"/>
          </a:xfrm>
          <a:prstGeom prst="rect">
            <a:avLst/>
          </a:prstGeom>
          <a:solidFill>
            <a:srgbClr val="1B6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502920"/>
            <a:ext cx="1645920" cy="292608"/>
          </a:xfrm>
          <a:prstGeom prst="roundRect">
            <a:avLst>
              <a:gd name="adj" fmla="val 15000"/>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512064"/>
            <a:ext cx="1645920" cy="274320"/>
          </a:xfrm>
          <a:prstGeom prst="rect">
            <a:avLst/>
          </a:prstGeom>
          <a:noFill/>
        </p:spPr>
        <p:txBody>
          <a:bodyPr wrap="square">
            <a:spAutoFit/>
          </a:bodyPr>
          <a:lstStyle/>
          <a:p>
            <a:pPr algn="ctr"/>
            <a:r>
              <a:rPr sz="900" b="1" i="0">
                <a:solidFill>
                  <a:srgbClr val="0D1B2A"/>
                </a:solidFill>
              </a:rPr>
              <a:t>  POINT OF VIEW  </a:t>
            </a:r>
          </a:p>
        </p:txBody>
      </p:sp>
      <p:sp>
        <p:nvSpPr>
          <p:cNvPr id="6" name="TextBox 5"/>
          <p:cNvSpPr txBox="1"/>
          <p:nvPr/>
        </p:nvSpPr>
        <p:spPr>
          <a:xfrm>
            <a:off x="502920" y="914400"/>
            <a:ext cx="8686800" cy="2011680"/>
          </a:xfrm>
          <a:prstGeom prst="rect">
            <a:avLst/>
          </a:prstGeom>
          <a:noFill/>
        </p:spPr>
        <p:txBody>
          <a:bodyPr wrap="square">
            <a:spAutoFit/>
          </a:bodyPr>
          <a:lstStyle/>
          <a:p>
            <a:pPr algn="l"/>
            <a:r>
              <a:rPr sz="4400" b="1" i="0">
                <a:solidFill>
                  <a:srgbClr val="FFFFFF"/>
                </a:solidFill>
              </a:rPr>
              <a:t>Rudra Multi-Model
Agentic Architecture</a:t>
            </a:r>
          </a:p>
        </p:txBody>
      </p:sp>
      <p:sp>
        <p:nvSpPr>
          <p:cNvPr id="7" name="TextBox 6"/>
          <p:cNvSpPr txBox="1"/>
          <p:nvPr/>
        </p:nvSpPr>
        <p:spPr>
          <a:xfrm>
            <a:off x="502920" y="2880360"/>
            <a:ext cx="9144000" cy="1005840"/>
          </a:xfrm>
          <a:prstGeom prst="rect">
            <a:avLst/>
          </a:prstGeom>
          <a:noFill/>
        </p:spPr>
        <p:txBody>
          <a:bodyPr wrap="square">
            <a:spAutoFit/>
          </a:bodyPr>
          <a:lstStyle/>
          <a:p>
            <a:pPr algn="l"/>
            <a:r>
              <a:rPr sz="1500" b="0" i="0">
                <a:solidFill>
                  <a:srgbClr val="CCD6E0"/>
                </a:solidFill>
              </a:rPr>
              <a:t>Delivering ERP &amp; EPM Consulting in 1 Week
Using Claude · OpenClaw · Qwen 2.5 · Canva · Databricks · Video AI</a:t>
            </a:r>
          </a:p>
        </p:txBody>
      </p:sp>
      <p:sp>
        <p:nvSpPr>
          <p:cNvPr id="8" name="Rectangle 7"/>
          <p:cNvSpPr/>
          <p:nvPr/>
        </p:nvSpPr>
        <p:spPr>
          <a:xfrm>
            <a:off x="502920" y="4023360"/>
            <a:ext cx="10314432" cy="22860"/>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02920" y="4251960"/>
            <a:ext cx="1645920" cy="658368"/>
          </a:xfrm>
          <a:prstGeom prst="roundRect">
            <a:avLst>
              <a:gd name="adj" fmla="val 15000"/>
            </a:avLst>
          </a:prstGeom>
          <a:solidFill>
            <a:srgbClr val="1B6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4261104"/>
            <a:ext cx="1645920" cy="640080"/>
          </a:xfrm>
          <a:prstGeom prst="rect">
            <a:avLst/>
          </a:prstGeom>
          <a:noFill/>
        </p:spPr>
        <p:txBody>
          <a:bodyPr wrap="square">
            <a:spAutoFit/>
          </a:bodyPr>
          <a:lstStyle/>
          <a:p>
            <a:pPr algn="ctr"/>
            <a:r>
              <a:rPr sz="850" b="1" i="0">
                <a:solidFill>
                  <a:srgbClr val="FFFFFF"/>
                </a:solidFill>
              </a:rPr>
              <a:t>Claude
Opus 4.6</a:t>
            </a:r>
          </a:p>
        </p:txBody>
      </p:sp>
      <p:sp>
        <p:nvSpPr>
          <p:cNvPr id="11" name="Rounded Rectangle 10"/>
          <p:cNvSpPr/>
          <p:nvPr/>
        </p:nvSpPr>
        <p:spPr>
          <a:xfrm>
            <a:off x="2286000" y="4251960"/>
            <a:ext cx="1645920" cy="658368"/>
          </a:xfrm>
          <a:prstGeom prst="roundRect">
            <a:avLst>
              <a:gd name="adj" fmla="val 15000"/>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286000" y="4261104"/>
            <a:ext cx="1645920" cy="640080"/>
          </a:xfrm>
          <a:prstGeom prst="rect">
            <a:avLst/>
          </a:prstGeom>
          <a:noFill/>
        </p:spPr>
        <p:txBody>
          <a:bodyPr wrap="square">
            <a:spAutoFit/>
          </a:bodyPr>
          <a:lstStyle/>
          <a:p>
            <a:pPr algn="ctr"/>
            <a:r>
              <a:rPr sz="850" b="1" i="0">
                <a:solidFill>
                  <a:srgbClr val="FFFFFF"/>
                </a:solidFill>
              </a:rPr>
              <a:t>OpenClaw
GPT-4o</a:t>
            </a:r>
          </a:p>
        </p:txBody>
      </p:sp>
      <p:sp>
        <p:nvSpPr>
          <p:cNvPr id="13" name="Rounded Rectangle 12"/>
          <p:cNvSpPr/>
          <p:nvPr/>
        </p:nvSpPr>
        <p:spPr>
          <a:xfrm>
            <a:off x="4069080" y="4251960"/>
            <a:ext cx="1645920" cy="658368"/>
          </a:xfrm>
          <a:prstGeom prst="roundRect">
            <a:avLst>
              <a:gd name="adj" fmla="val 15000"/>
            </a:avLst>
          </a:prstGeom>
          <a:solidFill>
            <a:srgbClr val="FF6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69080" y="4261104"/>
            <a:ext cx="1645920" cy="640080"/>
          </a:xfrm>
          <a:prstGeom prst="rect">
            <a:avLst/>
          </a:prstGeom>
          <a:noFill/>
        </p:spPr>
        <p:txBody>
          <a:bodyPr wrap="square">
            <a:spAutoFit/>
          </a:bodyPr>
          <a:lstStyle/>
          <a:p>
            <a:pPr algn="ctr"/>
            <a:r>
              <a:rPr sz="850" b="1" i="0">
                <a:solidFill>
                  <a:srgbClr val="FFFFFF"/>
                </a:solidFill>
              </a:rPr>
              <a:t>Qwen
2.5</a:t>
            </a:r>
          </a:p>
        </p:txBody>
      </p:sp>
      <p:sp>
        <p:nvSpPr>
          <p:cNvPr id="15" name="Rounded Rectangle 14"/>
          <p:cNvSpPr/>
          <p:nvPr/>
        </p:nvSpPr>
        <p:spPr>
          <a:xfrm>
            <a:off x="5852160" y="4251960"/>
            <a:ext cx="1645920" cy="658368"/>
          </a:xfrm>
          <a:prstGeom prst="roundRect">
            <a:avLst>
              <a:gd name="adj" fmla="val 15000"/>
            </a:avLst>
          </a:prstGeom>
          <a:solidFill>
            <a:srgbClr val="8B3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852160" y="4261104"/>
            <a:ext cx="1645920" cy="640080"/>
          </a:xfrm>
          <a:prstGeom prst="rect">
            <a:avLst/>
          </a:prstGeom>
          <a:noFill/>
        </p:spPr>
        <p:txBody>
          <a:bodyPr wrap="square">
            <a:spAutoFit/>
          </a:bodyPr>
          <a:lstStyle/>
          <a:p>
            <a:pPr algn="ctr"/>
            <a:r>
              <a:rPr sz="850" b="1" i="0">
                <a:solidFill>
                  <a:srgbClr val="FFFFFF"/>
                </a:solidFill>
              </a:rPr>
              <a:t>Canva
MCP</a:t>
            </a:r>
          </a:p>
        </p:txBody>
      </p:sp>
      <p:sp>
        <p:nvSpPr>
          <p:cNvPr id="17" name="Rounded Rectangle 16"/>
          <p:cNvSpPr/>
          <p:nvPr/>
        </p:nvSpPr>
        <p:spPr>
          <a:xfrm>
            <a:off x="7635240" y="4251960"/>
            <a:ext cx="1645920" cy="658368"/>
          </a:xfrm>
          <a:prstGeom prst="roundRect">
            <a:avLst>
              <a:gd name="adj" fmla="val 15000"/>
            </a:avLst>
          </a:prstGeom>
          <a:solidFill>
            <a:srgbClr val="FF33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35240" y="4261104"/>
            <a:ext cx="1645920" cy="640080"/>
          </a:xfrm>
          <a:prstGeom prst="rect">
            <a:avLst/>
          </a:prstGeom>
          <a:noFill/>
        </p:spPr>
        <p:txBody>
          <a:bodyPr wrap="square">
            <a:spAutoFit/>
          </a:bodyPr>
          <a:lstStyle/>
          <a:p>
            <a:pPr algn="ctr"/>
            <a:r>
              <a:rPr sz="850" b="1" i="0">
                <a:solidFill>
                  <a:srgbClr val="FFFFFF"/>
                </a:solidFill>
              </a:rPr>
              <a:t>Databricks
AI</a:t>
            </a:r>
          </a:p>
        </p:txBody>
      </p:sp>
      <p:sp>
        <p:nvSpPr>
          <p:cNvPr id="19" name="Rounded Rectangle 18"/>
          <p:cNvSpPr/>
          <p:nvPr/>
        </p:nvSpPr>
        <p:spPr>
          <a:xfrm>
            <a:off x="9418319" y="4251960"/>
            <a:ext cx="1645920" cy="658368"/>
          </a:xfrm>
          <a:prstGeom prst="roundRect">
            <a:avLst>
              <a:gd name="adj" fmla="val 15000"/>
            </a:avLst>
          </a:prstGeom>
          <a:solidFill>
            <a:srgbClr val="00D4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418319" y="4261104"/>
            <a:ext cx="1645920" cy="640080"/>
          </a:xfrm>
          <a:prstGeom prst="rect">
            <a:avLst/>
          </a:prstGeom>
          <a:noFill/>
        </p:spPr>
        <p:txBody>
          <a:bodyPr wrap="square">
            <a:spAutoFit/>
          </a:bodyPr>
          <a:lstStyle/>
          <a:p>
            <a:pPr algn="ctr"/>
            <a:r>
              <a:rPr sz="850" b="1" i="0">
                <a:solidFill>
                  <a:srgbClr val="FFFFFF"/>
                </a:solidFill>
              </a:rPr>
              <a:t>Video
Animation</a:t>
            </a:r>
          </a:p>
        </p:txBody>
      </p:sp>
      <p:sp>
        <p:nvSpPr>
          <p:cNvPr id="21" name="TextBox 20"/>
          <p:cNvSpPr txBox="1"/>
          <p:nvPr/>
        </p:nvSpPr>
        <p:spPr>
          <a:xfrm>
            <a:off x="502920" y="6263640"/>
            <a:ext cx="10972800" cy="365760"/>
          </a:xfrm>
          <a:prstGeom prst="rect">
            <a:avLst/>
          </a:prstGeom>
          <a:noFill/>
        </p:spPr>
        <p:txBody>
          <a:bodyPr wrap="square">
            <a:spAutoFit/>
          </a:bodyPr>
          <a:lstStyle/>
          <a:p>
            <a:pPr algn="l"/>
            <a:r>
              <a:rPr sz="800" b="0" i="0">
                <a:solidFill>
                  <a:srgbClr val="556B82"/>
                </a:solidFill>
              </a:rPr>
              <a:t>Finance Transformation · Technical Accounting · ERP/EPM Systems Integration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73152" cy="6858000"/>
          </a:xfrm>
          <a:prstGeom prst="rect">
            <a:avLst/>
          </a:prstGeom>
          <a:solidFill>
            <a:srgbClr val="E73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4572000" cy="347472"/>
          </a:xfrm>
          <a:prstGeom prst="rect">
            <a:avLst/>
          </a:prstGeom>
          <a:noFill/>
        </p:spPr>
        <p:txBody>
          <a:bodyPr wrap="square">
            <a:spAutoFit/>
          </a:bodyPr>
          <a:lstStyle/>
          <a:p>
            <a:pPr algn="l"/>
            <a:r>
              <a:rPr sz="1000" b="1" i="0">
                <a:solidFill>
                  <a:srgbClr val="E73C3E"/>
                </a:solidFill>
              </a:rPr>
              <a:t>THE CHALLENGE</a:t>
            </a:r>
          </a:p>
        </p:txBody>
      </p:sp>
      <p:sp>
        <p:nvSpPr>
          <p:cNvPr id="4" name="TextBox 3"/>
          <p:cNvSpPr txBox="1"/>
          <p:nvPr/>
        </p:nvSpPr>
        <p:spPr>
          <a:xfrm>
            <a:off x="320040" y="475488"/>
            <a:ext cx="11430000" cy="749808"/>
          </a:xfrm>
          <a:prstGeom prst="rect">
            <a:avLst/>
          </a:prstGeom>
          <a:noFill/>
        </p:spPr>
        <p:txBody>
          <a:bodyPr wrap="square">
            <a:spAutoFit/>
          </a:bodyPr>
          <a:lstStyle/>
          <a:p>
            <a:pPr algn="l"/>
            <a:r>
              <a:rPr sz="2600" b="1" i="0">
                <a:solidFill>
                  <a:srgbClr val="FFFFFF"/>
                </a:solidFill>
              </a:rPr>
              <a:t>ERP &amp; EPM Consulting is Too Slow, Too Manual, Too Expensive</a:t>
            </a:r>
          </a:p>
        </p:txBody>
      </p:sp>
      <p:sp>
        <p:nvSpPr>
          <p:cNvPr id="5" name="Rectangle 4"/>
          <p:cNvSpPr/>
          <p:nvPr/>
        </p:nvSpPr>
        <p:spPr>
          <a:xfrm>
            <a:off x="320040" y="1261872"/>
            <a:ext cx="11411712" cy="22860"/>
          </a:xfrm>
          <a:prstGeom prst="rect">
            <a:avLst/>
          </a:prstGeom>
          <a:solidFill>
            <a:srgbClr val="E73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320040" y="1463040"/>
            <a:ext cx="3749039" cy="1261872"/>
          </a:xfrm>
          <a:prstGeom prst="roundRect">
            <a:avLst>
              <a:gd name="adj" fmla="val 8000"/>
            </a:avLst>
          </a:prstGeom>
          <a:solidFill>
            <a:srgbClr val="162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 y="1463040"/>
            <a:ext cx="64008" cy="1261872"/>
          </a:xfrm>
          <a:prstGeom prst="rect">
            <a:avLst/>
          </a:prstGeom>
          <a:solidFill>
            <a:srgbClr val="E73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21207" y="1572768"/>
            <a:ext cx="2011680" cy="502920"/>
          </a:xfrm>
          <a:prstGeom prst="rect">
            <a:avLst/>
          </a:prstGeom>
          <a:noFill/>
        </p:spPr>
        <p:txBody>
          <a:bodyPr wrap="square">
            <a:spAutoFit/>
          </a:bodyPr>
          <a:lstStyle/>
          <a:p>
            <a:pPr algn="l"/>
            <a:r>
              <a:rPr sz="2600" b="1" i="0">
                <a:solidFill>
                  <a:srgbClr val="E73C3E"/>
                </a:solidFill>
              </a:rPr>
              <a:t>12–18 Weeks</a:t>
            </a:r>
          </a:p>
        </p:txBody>
      </p:sp>
      <p:sp>
        <p:nvSpPr>
          <p:cNvPr id="9" name="TextBox 8"/>
          <p:cNvSpPr txBox="1"/>
          <p:nvPr/>
        </p:nvSpPr>
        <p:spPr>
          <a:xfrm>
            <a:off x="521207" y="2057400"/>
            <a:ext cx="3428999" cy="594360"/>
          </a:xfrm>
          <a:prstGeom prst="rect">
            <a:avLst/>
          </a:prstGeom>
          <a:noFill/>
        </p:spPr>
        <p:txBody>
          <a:bodyPr wrap="square">
            <a:spAutoFit/>
          </a:bodyPr>
          <a:lstStyle/>
          <a:p>
            <a:pPr algn="l"/>
            <a:r>
              <a:rPr sz="950" b="0" i="0">
                <a:solidFill>
                  <a:srgbClr val="CCD6E0"/>
                </a:solidFill>
              </a:rPr>
              <a:t>Average ERP implementation kickoff to go-live for a single module</a:t>
            </a:r>
          </a:p>
        </p:txBody>
      </p:sp>
      <p:sp>
        <p:nvSpPr>
          <p:cNvPr id="10" name="Rounded Rectangle 9"/>
          <p:cNvSpPr/>
          <p:nvPr/>
        </p:nvSpPr>
        <p:spPr>
          <a:xfrm>
            <a:off x="320040" y="2852928"/>
            <a:ext cx="3749039" cy="1261872"/>
          </a:xfrm>
          <a:prstGeom prst="roundRect">
            <a:avLst>
              <a:gd name="adj" fmla="val 8000"/>
            </a:avLst>
          </a:prstGeom>
          <a:solidFill>
            <a:srgbClr val="162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20040" y="2852928"/>
            <a:ext cx="64008" cy="1261872"/>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1207" y="2962656"/>
            <a:ext cx="2011680" cy="502920"/>
          </a:xfrm>
          <a:prstGeom prst="rect">
            <a:avLst/>
          </a:prstGeom>
          <a:noFill/>
        </p:spPr>
        <p:txBody>
          <a:bodyPr wrap="square">
            <a:spAutoFit/>
          </a:bodyPr>
          <a:lstStyle/>
          <a:p>
            <a:pPr algn="l"/>
            <a:r>
              <a:rPr sz="2600" b="1" i="0">
                <a:solidFill>
                  <a:srgbClr val="FF8C00"/>
                </a:solidFill>
              </a:rPr>
              <a:t>$2–5M</a:t>
            </a:r>
          </a:p>
        </p:txBody>
      </p:sp>
      <p:sp>
        <p:nvSpPr>
          <p:cNvPr id="13" name="TextBox 12"/>
          <p:cNvSpPr txBox="1"/>
          <p:nvPr/>
        </p:nvSpPr>
        <p:spPr>
          <a:xfrm>
            <a:off x="521207" y="3447288"/>
            <a:ext cx="3428999" cy="594360"/>
          </a:xfrm>
          <a:prstGeom prst="rect">
            <a:avLst/>
          </a:prstGeom>
          <a:noFill/>
        </p:spPr>
        <p:txBody>
          <a:bodyPr wrap="square">
            <a:spAutoFit/>
          </a:bodyPr>
          <a:lstStyle/>
          <a:p>
            <a:pPr algn="l"/>
            <a:r>
              <a:rPr sz="950" b="0" i="0">
                <a:solidFill>
                  <a:srgbClr val="CCD6E0"/>
                </a:solidFill>
              </a:rPr>
              <a:t>Typical Big-4 finance transformation engagement cost for mid-market</a:t>
            </a:r>
          </a:p>
        </p:txBody>
      </p:sp>
      <p:sp>
        <p:nvSpPr>
          <p:cNvPr id="14" name="Rounded Rectangle 13"/>
          <p:cNvSpPr/>
          <p:nvPr/>
        </p:nvSpPr>
        <p:spPr>
          <a:xfrm>
            <a:off x="320040" y="4242816"/>
            <a:ext cx="3749039" cy="1261872"/>
          </a:xfrm>
          <a:prstGeom prst="roundRect">
            <a:avLst>
              <a:gd name="adj" fmla="val 8000"/>
            </a:avLst>
          </a:prstGeom>
          <a:solidFill>
            <a:srgbClr val="162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20040" y="4242816"/>
            <a:ext cx="64008" cy="1261872"/>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21207" y="4352544"/>
            <a:ext cx="2011680" cy="502920"/>
          </a:xfrm>
          <a:prstGeom prst="rect">
            <a:avLst/>
          </a:prstGeom>
          <a:noFill/>
        </p:spPr>
        <p:txBody>
          <a:bodyPr wrap="square">
            <a:spAutoFit/>
          </a:bodyPr>
          <a:lstStyle/>
          <a:p>
            <a:pPr algn="l"/>
            <a:r>
              <a:rPr sz="2600" b="1" i="0">
                <a:solidFill>
                  <a:srgbClr val="FF8C00"/>
                </a:solidFill>
              </a:rPr>
              <a:t>80% Manual</a:t>
            </a:r>
          </a:p>
        </p:txBody>
      </p:sp>
      <p:sp>
        <p:nvSpPr>
          <p:cNvPr id="17" name="TextBox 16"/>
          <p:cNvSpPr txBox="1"/>
          <p:nvPr/>
        </p:nvSpPr>
        <p:spPr>
          <a:xfrm>
            <a:off x="521207" y="4837176"/>
            <a:ext cx="3428999" cy="594360"/>
          </a:xfrm>
          <a:prstGeom prst="rect">
            <a:avLst/>
          </a:prstGeom>
          <a:noFill/>
        </p:spPr>
        <p:txBody>
          <a:bodyPr wrap="square">
            <a:spAutoFit/>
          </a:bodyPr>
          <a:lstStyle/>
          <a:p>
            <a:pPr algn="l"/>
            <a:r>
              <a:rPr sz="950" b="0" i="0">
                <a:solidFill>
                  <a:srgbClr val="CCD6E0"/>
                </a:solidFill>
              </a:rPr>
              <a:t>Proportion of ERP/EPM deliverables still produced manually in Word/Excel</a:t>
            </a:r>
          </a:p>
        </p:txBody>
      </p:sp>
      <p:sp>
        <p:nvSpPr>
          <p:cNvPr id="18" name="Rounded Rectangle 17"/>
          <p:cNvSpPr/>
          <p:nvPr/>
        </p:nvSpPr>
        <p:spPr>
          <a:xfrm>
            <a:off x="6263640" y="1463040"/>
            <a:ext cx="3749039" cy="1261872"/>
          </a:xfrm>
          <a:prstGeom prst="roundRect">
            <a:avLst>
              <a:gd name="adj" fmla="val 8000"/>
            </a:avLst>
          </a:prstGeom>
          <a:solidFill>
            <a:srgbClr val="162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63640" y="1463040"/>
            <a:ext cx="64008" cy="1261872"/>
          </a:xfrm>
          <a:prstGeom prst="rect">
            <a:avLst/>
          </a:prstGeom>
          <a:solidFill>
            <a:srgbClr val="E73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64807" y="1572768"/>
            <a:ext cx="2011680" cy="502920"/>
          </a:xfrm>
          <a:prstGeom prst="rect">
            <a:avLst/>
          </a:prstGeom>
          <a:noFill/>
        </p:spPr>
        <p:txBody>
          <a:bodyPr wrap="square">
            <a:spAutoFit/>
          </a:bodyPr>
          <a:lstStyle/>
          <a:p>
            <a:pPr algn="l"/>
            <a:r>
              <a:rPr sz="2600" b="1" i="0">
                <a:solidFill>
                  <a:srgbClr val="E73C3E"/>
                </a:solidFill>
              </a:rPr>
              <a:t>3–5 Consultants</a:t>
            </a:r>
          </a:p>
        </p:txBody>
      </p:sp>
      <p:sp>
        <p:nvSpPr>
          <p:cNvPr id="21" name="TextBox 20"/>
          <p:cNvSpPr txBox="1"/>
          <p:nvPr/>
        </p:nvSpPr>
        <p:spPr>
          <a:xfrm>
            <a:off x="6464807" y="2057400"/>
            <a:ext cx="3428999" cy="594360"/>
          </a:xfrm>
          <a:prstGeom prst="rect">
            <a:avLst/>
          </a:prstGeom>
          <a:noFill/>
        </p:spPr>
        <p:txBody>
          <a:bodyPr wrap="square">
            <a:spAutoFit/>
          </a:bodyPr>
          <a:lstStyle/>
          <a:p>
            <a:pPr algn="l"/>
            <a:r>
              <a:rPr sz="950" b="0" i="0">
                <a:solidFill>
                  <a:srgbClr val="CCD6E0"/>
                </a:solidFill>
              </a:rPr>
              <a:t>Resources needed just to produce Week 1 discovery and design documents</a:t>
            </a:r>
          </a:p>
        </p:txBody>
      </p:sp>
      <p:sp>
        <p:nvSpPr>
          <p:cNvPr id="22" name="Rounded Rectangle 21"/>
          <p:cNvSpPr/>
          <p:nvPr/>
        </p:nvSpPr>
        <p:spPr>
          <a:xfrm>
            <a:off x="6263640" y="2852928"/>
            <a:ext cx="3749039" cy="1261872"/>
          </a:xfrm>
          <a:prstGeom prst="roundRect">
            <a:avLst>
              <a:gd name="adj" fmla="val 8000"/>
            </a:avLst>
          </a:prstGeom>
          <a:solidFill>
            <a:srgbClr val="162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63640" y="2852928"/>
            <a:ext cx="64008" cy="1261872"/>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64807" y="2962656"/>
            <a:ext cx="2011680" cy="502920"/>
          </a:xfrm>
          <a:prstGeom prst="rect">
            <a:avLst/>
          </a:prstGeom>
          <a:noFill/>
        </p:spPr>
        <p:txBody>
          <a:bodyPr wrap="square">
            <a:spAutoFit/>
          </a:bodyPr>
          <a:lstStyle/>
          <a:p>
            <a:pPr algn="l"/>
            <a:r>
              <a:rPr sz="2600" b="1" i="0">
                <a:solidFill>
                  <a:srgbClr val="FF8C00"/>
                </a:solidFill>
              </a:rPr>
              <a:t>6+ Iterations</a:t>
            </a:r>
          </a:p>
        </p:txBody>
      </p:sp>
      <p:sp>
        <p:nvSpPr>
          <p:cNvPr id="25" name="TextBox 24"/>
          <p:cNvSpPr txBox="1"/>
          <p:nvPr/>
        </p:nvSpPr>
        <p:spPr>
          <a:xfrm>
            <a:off x="6464807" y="3447288"/>
            <a:ext cx="3428999" cy="594360"/>
          </a:xfrm>
          <a:prstGeom prst="rect">
            <a:avLst/>
          </a:prstGeom>
          <a:noFill/>
        </p:spPr>
        <p:txBody>
          <a:bodyPr wrap="square">
            <a:spAutoFit/>
          </a:bodyPr>
          <a:lstStyle/>
          <a:p>
            <a:pPr algn="l"/>
            <a:r>
              <a:rPr sz="950" b="0" i="0">
                <a:solidFill>
                  <a:srgbClr val="CCD6E0"/>
                </a:solidFill>
              </a:rPr>
              <a:t>Average revision cycles for COA design, process maps and EPM requirements</a:t>
            </a:r>
          </a:p>
        </p:txBody>
      </p:sp>
      <p:sp>
        <p:nvSpPr>
          <p:cNvPr id="26" name="Rounded Rectangle 25"/>
          <p:cNvSpPr/>
          <p:nvPr/>
        </p:nvSpPr>
        <p:spPr>
          <a:xfrm>
            <a:off x="6263640" y="4242816"/>
            <a:ext cx="3749039" cy="1261872"/>
          </a:xfrm>
          <a:prstGeom prst="roundRect">
            <a:avLst>
              <a:gd name="adj" fmla="val 8000"/>
            </a:avLst>
          </a:prstGeom>
          <a:solidFill>
            <a:srgbClr val="162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63640" y="4242816"/>
            <a:ext cx="64008" cy="1261872"/>
          </a:xfrm>
          <a:prstGeom prst="rect">
            <a:avLst/>
          </a:prstGeom>
          <a:solidFill>
            <a:srgbClr val="E73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64807" y="4352544"/>
            <a:ext cx="2011680" cy="502920"/>
          </a:xfrm>
          <a:prstGeom prst="rect">
            <a:avLst/>
          </a:prstGeom>
          <a:noFill/>
        </p:spPr>
        <p:txBody>
          <a:bodyPr wrap="square">
            <a:spAutoFit/>
          </a:bodyPr>
          <a:lstStyle/>
          <a:p>
            <a:pPr algn="l"/>
            <a:r>
              <a:rPr sz="2600" b="1" i="0">
                <a:solidFill>
                  <a:srgbClr val="E73C3E"/>
                </a:solidFill>
              </a:rPr>
              <a:t>No AI Memory</a:t>
            </a:r>
          </a:p>
        </p:txBody>
      </p:sp>
      <p:sp>
        <p:nvSpPr>
          <p:cNvPr id="29" name="TextBox 28"/>
          <p:cNvSpPr txBox="1"/>
          <p:nvPr/>
        </p:nvSpPr>
        <p:spPr>
          <a:xfrm>
            <a:off x="6464807" y="4837176"/>
            <a:ext cx="3428999" cy="594360"/>
          </a:xfrm>
          <a:prstGeom prst="rect">
            <a:avLst/>
          </a:prstGeom>
          <a:noFill/>
        </p:spPr>
        <p:txBody>
          <a:bodyPr wrap="square">
            <a:spAutoFit/>
          </a:bodyPr>
          <a:lstStyle/>
          <a:p>
            <a:pPr algn="l"/>
            <a:r>
              <a:rPr sz="950" b="0" i="0">
                <a:solidFill>
                  <a:srgbClr val="CCD6E0"/>
                </a:solidFill>
              </a:rPr>
              <a:t>Traditional tools lose context between deliverables — each doc starts from scratch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D4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4572000" cy="347472"/>
          </a:xfrm>
          <a:prstGeom prst="rect">
            <a:avLst/>
          </a:prstGeom>
          <a:noFill/>
        </p:spPr>
        <p:txBody>
          <a:bodyPr wrap="square">
            <a:spAutoFit/>
          </a:bodyPr>
          <a:lstStyle/>
          <a:p>
            <a:pPr algn="l"/>
            <a:r>
              <a:rPr sz="1000" b="1" i="0">
                <a:solidFill>
                  <a:srgbClr val="00D48A"/>
                </a:solidFill>
              </a:rPr>
              <a:t>THE VISION</a:t>
            </a:r>
          </a:p>
        </p:txBody>
      </p:sp>
      <p:sp>
        <p:nvSpPr>
          <p:cNvPr id="4" name="TextBox 3"/>
          <p:cNvSpPr txBox="1"/>
          <p:nvPr/>
        </p:nvSpPr>
        <p:spPr>
          <a:xfrm>
            <a:off x="320040" y="475488"/>
            <a:ext cx="11430000" cy="749808"/>
          </a:xfrm>
          <a:prstGeom prst="rect">
            <a:avLst/>
          </a:prstGeom>
          <a:noFill/>
        </p:spPr>
        <p:txBody>
          <a:bodyPr wrap="square">
            <a:spAutoFit/>
          </a:bodyPr>
          <a:lstStyle/>
          <a:p>
            <a:pPr algn="l"/>
            <a:r>
              <a:rPr sz="2600" b="1" i="0">
                <a:solidFill>
                  <a:srgbClr val="FFFFFF"/>
                </a:solidFill>
              </a:rPr>
              <a:t>From 12 Weeks to 1 Week — Agentic AI as Your Consulting Team</a:t>
            </a:r>
          </a:p>
        </p:txBody>
      </p:sp>
      <p:sp>
        <p:nvSpPr>
          <p:cNvPr id="5" name="Rectangle 4"/>
          <p:cNvSpPr/>
          <p:nvPr/>
        </p:nvSpPr>
        <p:spPr>
          <a:xfrm>
            <a:off x="320040" y="1261872"/>
            <a:ext cx="11411712" cy="22860"/>
          </a:xfrm>
          <a:prstGeom prst="rect">
            <a:avLst/>
          </a:prstGeom>
          <a:solidFill>
            <a:srgbClr val="00D4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417320"/>
            <a:ext cx="5303520" cy="5074920"/>
          </a:xfrm>
          <a:prstGeom prst="rect">
            <a:avLst/>
          </a:prstGeom>
          <a:solidFill>
            <a:srgbClr val="1A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 y="1417320"/>
            <a:ext cx="5303520" cy="384048"/>
          </a:xfrm>
          <a:prstGeom prst="rect">
            <a:avLst/>
          </a:prstGeom>
          <a:solidFill>
            <a:srgbClr val="E73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463040"/>
            <a:ext cx="4937760" cy="320040"/>
          </a:xfrm>
          <a:prstGeom prst="rect">
            <a:avLst/>
          </a:prstGeom>
          <a:noFill/>
        </p:spPr>
        <p:txBody>
          <a:bodyPr wrap="square">
            <a:spAutoFit/>
          </a:bodyPr>
          <a:lstStyle/>
          <a:p>
            <a:pPr algn="ctr"/>
            <a:r>
              <a:rPr sz="1100" b="1" i="0">
                <a:solidFill>
                  <a:srgbClr val="FFFFFF"/>
                </a:solidFill>
              </a:rPr>
              <a:t>BEFORE  —  Traditional Consulting</a:t>
            </a:r>
          </a:p>
        </p:txBody>
      </p:sp>
      <p:sp>
        <p:nvSpPr>
          <p:cNvPr id="9" name="TextBox 8"/>
          <p:cNvSpPr txBox="1"/>
          <p:nvPr/>
        </p:nvSpPr>
        <p:spPr>
          <a:xfrm>
            <a:off x="502920" y="1965960"/>
            <a:ext cx="4937760" cy="384048"/>
          </a:xfrm>
          <a:prstGeom prst="rect">
            <a:avLst/>
          </a:prstGeom>
          <a:noFill/>
        </p:spPr>
        <p:txBody>
          <a:bodyPr wrap="square">
            <a:spAutoFit/>
          </a:bodyPr>
          <a:lstStyle/>
          <a:p>
            <a:pPr algn="l"/>
            <a:r>
              <a:rPr sz="1000" b="0" i="0">
                <a:solidFill>
                  <a:srgbClr val="CCD6E0"/>
                </a:solidFill>
              </a:rPr>
              <a:t>❌  12–18 week delivery timelines</a:t>
            </a:r>
          </a:p>
        </p:txBody>
      </p:sp>
      <p:sp>
        <p:nvSpPr>
          <p:cNvPr id="10" name="TextBox 9"/>
          <p:cNvSpPr txBox="1"/>
          <p:nvPr/>
        </p:nvSpPr>
        <p:spPr>
          <a:xfrm>
            <a:off x="502920" y="2368296"/>
            <a:ext cx="4937760" cy="384048"/>
          </a:xfrm>
          <a:prstGeom prst="rect">
            <a:avLst/>
          </a:prstGeom>
          <a:noFill/>
        </p:spPr>
        <p:txBody>
          <a:bodyPr wrap="square">
            <a:spAutoFit/>
          </a:bodyPr>
          <a:lstStyle/>
          <a:p>
            <a:pPr algn="l"/>
            <a:r>
              <a:rPr sz="1000" b="0" i="0">
                <a:solidFill>
                  <a:srgbClr val="CCD6E0"/>
                </a:solidFill>
              </a:rPr>
              <a:t>❌  Manual Word/Excel deliverable production</a:t>
            </a:r>
          </a:p>
        </p:txBody>
      </p:sp>
      <p:sp>
        <p:nvSpPr>
          <p:cNvPr id="11" name="TextBox 10"/>
          <p:cNvSpPr txBox="1"/>
          <p:nvPr/>
        </p:nvSpPr>
        <p:spPr>
          <a:xfrm>
            <a:off x="502920" y="2770632"/>
            <a:ext cx="4937760" cy="384048"/>
          </a:xfrm>
          <a:prstGeom prst="rect">
            <a:avLst/>
          </a:prstGeom>
          <a:noFill/>
        </p:spPr>
        <p:txBody>
          <a:bodyPr wrap="square">
            <a:spAutoFit/>
          </a:bodyPr>
          <a:lstStyle/>
          <a:p>
            <a:pPr algn="l"/>
            <a:r>
              <a:rPr sz="1000" b="0" i="0">
                <a:solidFill>
                  <a:srgbClr val="CCD6E0"/>
                </a:solidFill>
              </a:rPr>
              <a:t>❌  3–5 consultants for basic discovery docs</a:t>
            </a:r>
          </a:p>
        </p:txBody>
      </p:sp>
      <p:sp>
        <p:nvSpPr>
          <p:cNvPr id="12" name="TextBox 11"/>
          <p:cNvSpPr txBox="1"/>
          <p:nvPr/>
        </p:nvSpPr>
        <p:spPr>
          <a:xfrm>
            <a:off x="502920" y="3172968"/>
            <a:ext cx="4937760" cy="384048"/>
          </a:xfrm>
          <a:prstGeom prst="rect">
            <a:avLst/>
          </a:prstGeom>
          <a:noFill/>
        </p:spPr>
        <p:txBody>
          <a:bodyPr wrap="square">
            <a:spAutoFit/>
          </a:bodyPr>
          <a:lstStyle/>
          <a:p>
            <a:pPr algn="l"/>
            <a:r>
              <a:rPr sz="1000" b="0" i="0">
                <a:solidFill>
                  <a:srgbClr val="CCD6E0"/>
                </a:solidFill>
              </a:rPr>
              <a:t>❌  No context sharing between workstreams</a:t>
            </a:r>
          </a:p>
        </p:txBody>
      </p:sp>
      <p:sp>
        <p:nvSpPr>
          <p:cNvPr id="13" name="TextBox 12"/>
          <p:cNvSpPr txBox="1"/>
          <p:nvPr/>
        </p:nvSpPr>
        <p:spPr>
          <a:xfrm>
            <a:off x="502920" y="3575303"/>
            <a:ext cx="4937760" cy="384048"/>
          </a:xfrm>
          <a:prstGeom prst="rect">
            <a:avLst/>
          </a:prstGeom>
          <a:noFill/>
        </p:spPr>
        <p:txBody>
          <a:bodyPr wrap="square">
            <a:spAutoFit/>
          </a:bodyPr>
          <a:lstStyle/>
          <a:p>
            <a:pPr algn="l"/>
            <a:r>
              <a:rPr sz="1000" b="0" i="0">
                <a:solidFill>
                  <a:srgbClr val="CCD6E0"/>
                </a:solidFill>
              </a:rPr>
              <a:t>❌  $2–5M+ engagement costs</a:t>
            </a:r>
          </a:p>
        </p:txBody>
      </p:sp>
      <p:sp>
        <p:nvSpPr>
          <p:cNvPr id="14" name="TextBox 13"/>
          <p:cNvSpPr txBox="1"/>
          <p:nvPr/>
        </p:nvSpPr>
        <p:spPr>
          <a:xfrm>
            <a:off x="502920" y="3977639"/>
            <a:ext cx="4937760" cy="384048"/>
          </a:xfrm>
          <a:prstGeom prst="rect">
            <a:avLst/>
          </a:prstGeom>
          <a:noFill/>
        </p:spPr>
        <p:txBody>
          <a:bodyPr wrap="square">
            <a:spAutoFit/>
          </a:bodyPr>
          <a:lstStyle/>
          <a:p>
            <a:pPr algn="l"/>
            <a:r>
              <a:rPr sz="1000" b="0" i="0">
                <a:solidFill>
                  <a:srgbClr val="CCD6E0"/>
                </a:solidFill>
              </a:rPr>
              <a:t>❌  Siloed accounting, ERP &amp; EPM expertise</a:t>
            </a:r>
          </a:p>
        </p:txBody>
      </p:sp>
      <p:sp>
        <p:nvSpPr>
          <p:cNvPr id="15" name="TextBox 14"/>
          <p:cNvSpPr txBox="1"/>
          <p:nvPr/>
        </p:nvSpPr>
        <p:spPr>
          <a:xfrm>
            <a:off x="502920" y="4379976"/>
            <a:ext cx="4937760" cy="384048"/>
          </a:xfrm>
          <a:prstGeom prst="rect">
            <a:avLst/>
          </a:prstGeom>
          <a:noFill/>
        </p:spPr>
        <p:txBody>
          <a:bodyPr wrap="square">
            <a:spAutoFit/>
          </a:bodyPr>
          <a:lstStyle/>
          <a:p>
            <a:pPr algn="l"/>
            <a:r>
              <a:rPr sz="1000" b="0" i="0">
                <a:solidFill>
                  <a:srgbClr val="CCD6E0"/>
                </a:solidFill>
              </a:rPr>
              <a:t>❌  Static deliverables, no live visualisations</a:t>
            </a:r>
          </a:p>
        </p:txBody>
      </p:sp>
      <p:sp>
        <p:nvSpPr>
          <p:cNvPr id="16" name="Rectangle 15"/>
          <p:cNvSpPr/>
          <p:nvPr/>
        </p:nvSpPr>
        <p:spPr>
          <a:xfrm>
            <a:off x="6565392" y="1417320"/>
            <a:ext cx="5303520" cy="5074920"/>
          </a:xfrm>
          <a:prstGeom prst="rect">
            <a:avLst/>
          </a:prstGeom>
          <a:solidFill>
            <a:srgbClr val="0A1A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565392" y="1417320"/>
            <a:ext cx="5303520" cy="384048"/>
          </a:xfrm>
          <a:prstGeom prst="rect">
            <a:avLst/>
          </a:prstGeom>
          <a:solidFill>
            <a:srgbClr val="00D4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48272" y="1463040"/>
            <a:ext cx="4937760" cy="320040"/>
          </a:xfrm>
          <a:prstGeom prst="rect">
            <a:avLst/>
          </a:prstGeom>
          <a:noFill/>
        </p:spPr>
        <p:txBody>
          <a:bodyPr wrap="square">
            <a:spAutoFit/>
          </a:bodyPr>
          <a:lstStyle/>
          <a:p>
            <a:pPr algn="ctr"/>
            <a:r>
              <a:rPr sz="1100" b="1" i="0">
                <a:solidFill>
                  <a:srgbClr val="FFFFFF"/>
                </a:solidFill>
              </a:rPr>
              <a:t>AFTER  —  Rudra Agentic Framework</a:t>
            </a:r>
          </a:p>
        </p:txBody>
      </p:sp>
      <p:sp>
        <p:nvSpPr>
          <p:cNvPr id="19" name="TextBox 18"/>
          <p:cNvSpPr txBox="1"/>
          <p:nvPr/>
        </p:nvSpPr>
        <p:spPr>
          <a:xfrm>
            <a:off x="6748272" y="1965960"/>
            <a:ext cx="4937760" cy="384048"/>
          </a:xfrm>
          <a:prstGeom prst="rect">
            <a:avLst/>
          </a:prstGeom>
          <a:noFill/>
        </p:spPr>
        <p:txBody>
          <a:bodyPr wrap="square">
            <a:spAutoFit/>
          </a:bodyPr>
          <a:lstStyle/>
          <a:p>
            <a:pPr algn="l"/>
            <a:r>
              <a:rPr sz="1000" b="0" i="0">
                <a:solidFill>
                  <a:srgbClr val="CCD6E0"/>
                </a:solidFill>
              </a:rPr>
              <a:t>✅  1-week full ERP/EPM kickoff package</a:t>
            </a:r>
          </a:p>
        </p:txBody>
      </p:sp>
      <p:sp>
        <p:nvSpPr>
          <p:cNvPr id="20" name="TextBox 19"/>
          <p:cNvSpPr txBox="1"/>
          <p:nvPr/>
        </p:nvSpPr>
        <p:spPr>
          <a:xfrm>
            <a:off x="6748272" y="2368296"/>
            <a:ext cx="4937760" cy="384048"/>
          </a:xfrm>
          <a:prstGeom prst="rect">
            <a:avLst/>
          </a:prstGeom>
          <a:noFill/>
        </p:spPr>
        <p:txBody>
          <a:bodyPr wrap="square">
            <a:spAutoFit/>
          </a:bodyPr>
          <a:lstStyle/>
          <a:p>
            <a:pPr algn="l"/>
            <a:r>
              <a:rPr sz="1000" b="0" i="0">
                <a:solidFill>
                  <a:srgbClr val="CCD6E0"/>
                </a:solidFill>
              </a:rPr>
              <a:t>✅  AI-generated Excel, PDF, PPTX, Video</a:t>
            </a:r>
          </a:p>
        </p:txBody>
      </p:sp>
      <p:sp>
        <p:nvSpPr>
          <p:cNvPr id="21" name="TextBox 20"/>
          <p:cNvSpPr txBox="1"/>
          <p:nvPr/>
        </p:nvSpPr>
        <p:spPr>
          <a:xfrm>
            <a:off x="6748272" y="2770632"/>
            <a:ext cx="4937760" cy="384048"/>
          </a:xfrm>
          <a:prstGeom prst="rect">
            <a:avLst/>
          </a:prstGeom>
          <a:noFill/>
        </p:spPr>
        <p:txBody>
          <a:bodyPr wrap="square">
            <a:spAutoFit/>
          </a:bodyPr>
          <a:lstStyle/>
          <a:p>
            <a:pPr algn="l"/>
            <a:r>
              <a:rPr sz="1000" b="0" i="0">
                <a:solidFill>
                  <a:srgbClr val="CCD6E0"/>
                </a:solidFill>
              </a:rPr>
              <a:t>✅  10 specialist agents working in parallel</a:t>
            </a:r>
          </a:p>
        </p:txBody>
      </p:sp>
      <p:sp>
        <p:nvSpPr>
          <p:cNvPr id="22" name="TextBox 21"/>
          <p:cNvSpPr txBox="1"/>
          <p:nvPr/>
        </p:nvSpPr>
        <p:spPr>
          <a:xfrm>
            <a:off x="6748272" y="3172968"/>
            <a:ext cx="4937760" cy="384048"/>
          </a:xfrm>
          <a:prstGeom prst="rect">
            <a:avLst/>
          </a:prstGeom>
          <a:noFill/>
        </p:spPr>
        <p:txBody>
          <a:bodyPr wrap="square">
            <a:spAutoFit/>
          </a:bodyPr>
          <a:lstStyle/>
          <a:p>
            <a:pPr algn="l"/>
            <a:r>
              <a:rPr sz="1000" b="0" i="0">
                <a:solidFill>
                  <a:srgbClr val="CCD6E0"/>
                </a:solidFill>
              </a:rPr>
              <a:t>✅  Shared memory across all workstreams</a:t>
            </a:r>
          </a:p>
        </p:txBody>
      </p:sp>
      <p:sp>
        <p:nvSpPr>
          <p:cNvPr id="23" name="TextBox 22"/>
          <p:cNvSpPr txBox="1"/>
          <p:nvPr/>
        </p:nvSpPr>
        <p:spPr>
          <a:xfrm>
            <a:off x="6748272" y="3575303"/>
            <a:ext cx="4937760" cy="384048"/>
          </a:xfrm>
          <a:prstGeom prst="rect">
            <a:avLst/>
          </a:prstGeom>
          <a:noFill/>
        </p:spPr>
        <p:txBody>
          <a:bodyPr wrap="square">
            <a:spAutoFit/>
          </a:bodyPr>
          <a:lstStyle/>
          <a:p>
            <a:pPr algn="l"/>
            <a:r>
              <a:rPr sz="1000" b="0" i="0">
                <a:solidFill>
                  <a:srgbClr val="CCD6E0"/>
                </a:solidFill>
              </a:rPr>
              <a:t>✅  90% cost reduction on documentation</a:t>
            </a:r>
          </a:p>
        </p:txBody>
      </p:sp>
      <p:sp>
        <p:nvSpPr>
          <p:cNvPr id="24" name="TextBox 23"/>
          <p:cNvSpPr txBox="1"/>
          <p:nvPr/>
        </p:nvSpPr>
        <p:spPr>
          <a:xfrm>
            <a:off x="6748272" y="3977639"/>
            <a:ext cx="4937760" cy="384048"/>
          </a:xfrm>
          <a:prstGeom prst="rect">
            <a:avLst/>
          </a:prstGeom>
          <a:noFill/>
        </p:spPr>
        <p:txBody>
          <a:bodyPr wrap="square">
            <a:spAutoFit/>
          </a:bodyPr>
          <a:lstStyle/>
          <a:p>
            <a:pPr algn="l"/>
            <a:r>
              <a:rPr sz="1000" b="0" i="0">
                <a:solidFill>
                  <a:srgbClr val="CCD6E0"/>
                </a:solidFill>
              </a:rPr>
              <a:t>✅  IFRS/GAAP grounded via vector search</a:t>
            </a:r>
          </a:p>
        </p:txBody>
      </p:sp>
      <p:sp>
        <p:nvSpPr>
          <p:cNvPr id="25" name="TextBox 24"/>
          <p:cNvSpPr txBox="1"/>
          <p:nvPr/>
        </p:nvSpPr>
        <p:spPr>
          <a:xfrm>
            <a:off x="6748272" y="4379976"/>
            <a:ext cx="4937760" cy="384048"/>
          </a:xfrm>
          <a:prstGeom prst="rect">
            <a:avLst/>
          </a:prstGeom>
          <a:noFill/>
        </p:spPr>
        <p:txBody>
          <a:bodyPr wrap="square">
            <a:spAutoFit/>
          </a:bodyPr>
          <a:lstStyle/>
          <a:p>
            <a:pPr algn="l"/>
            <a:r>
              <a:rPr sz="1000" b="0" i="0">
                <a:solidFill>
                  <a:srgbClr val="CCD6E0"/>
                </a:solidFill>
              </a:rPr>
              <a:t>✅  Animated dashboards &amp; roadmap videos</a:t>
            </a:r>
          </a:p>
        </p:txBody>
      </p:sp>
      <p:sp>
        <p:nvSpPr>
          <p:cNvPr id="26" name="Rounded Rectangle 25"/>
          <p:cNvSpPr/>
          <p:nvPr/>
        </p:nvSpPr>
        <p:spPr>
          <a:xfrm>
            <a:off x="5641848" y="3520440"/>
            <a:ext cx="914400" cy="685800"/>
          </a:xfrm>
          <a:prstGeom prst="roundRect">
            <a:avLst>
              <a:gd name="adj" fmla="val 8000"/>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41848" y="3547872"/>
            <a:ext cx="914400" cy="621792"/>
          </a:xfrm>
          <a:prstGeom prst="rect">
            <a:avLst/>
          </a:prstGeom>
          <a:noFill/>
        </p:spPr>
        <p:txBody>
          <a:bodyPr wrap="square">
            <a:spAutoFit/>
          </a:bodyPr>
          <a:lstStyle/>
          <a:p>
            <a:pPr algn="ctr"/>
            <a:r>
              <a:rPr sz="2200" b="1" i="0">
                <a:solidFill>
                  <a:srgbClr val="FFC800"/>
                </a:solidFill>
              </a:rPr>
              <a:t>VS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5486400" cy="347472"/>
          </a:xfrm>
          <a:prstGeom prst="rect">
            <a:avLst/>
          </a:prstGeom>
          <a:noFill/>
        </p:spPr>
        <p:txBody>
          <a:bodyPr wrap="square">
            <a:spAutoFit/>
          </a:bodyPr>
          <a:lstStyle/>
          <a:p>
            <a:pPr algn="l"/>
            <a:r>
              <a:rPr sz="1000" b="1" i="0">
                <a:solidFill>
                  <a:srgbClr val="00C2FF"/>
                </a:solidFill>
              </a:rPr>
              <a:t>ARCHITECTURE OVERVIEW</a:t>
            </a:r>
          </a:p>
        </p:txBody>
      </p:sp>
      <p:sp>
        <p:nvSpPr>
          <p:cNvPr id="4" name="TextBox 3"/>
          <p:cNvSpPr txBox="1"/>
          <p:nvPr/>
        </p:nvSpPr>
        <p:spPr>
          <a:xfrm>
            <a:off x="320040" y="475488"/>
            <a:ext cx="11430000" cy="594360"/>
          </a:xfrm>
          <a:prstGeom prst="rect">
            <a:avLst/>
          </a:prstGeom>
          <a:noFill/>
        </p:spPr>
        <p:txBody>
          <a:bodyPr wrap="square">
            <a:spAutoFit/>
          </a:bodyPr>
          <a:lstStyle/>
          <a:p>
            <a:pPr algn="l"/>
            <a:r>
              <a:rPr sz="2600" b="1" i="0">
                <a:solidFill>
                  <a:srgbClr val="FFFFFF"/>
                </a:solidFill>
              </a:rPr>
              <a:t>Four-Layer Agentic Stack</a:t>
            </a:r>
          </a:p>
        </p:txBody>
      </p:sp>
      <p:sp>
        <p:nvSpPr>
          <p:cNvPr id="5" name="Rectangle 4"/>
          <p:cNvSpPr/>
          <p:nvPr/>
        </p:nvSpPr>
        <p:spPr>
          <a:xfrm>
            <a:off x="320040" y="1097280"/>
            <a:ext cx="11411712" cy="22860"/>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320040" y="1234440"/>
            <a:ext cx="11521440" cy="804672"/>
          </a:xfrm>
          <a:prstGeom prst="roundRect">
            <a:avLst>
              <a:gd name="adj" fmla="val 8000"/>
            </a:avLst>
          </a:prstGeom>
          <a:solidFill>
            <a:srgbClr val="162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 y="1234440"/>
            <a:ext cx="11521440" cy="36576"/>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289304"/>
            <a:ext cx="3657600" cy="292608"/>
          </a:xfrm>
          <a:prstGeom prst="rect">
            <a:avLst/>
          </a:prstGeom>
          <a:noFill/>
        </p:spPr>
        <p:txBody>
          <a:bodyPr wrap="square">
            <a:spAutoFit/>
          </a:bodyPr>
          <a:lstStyle/>
          <a:p>
            <a:pPr algn="l"/>
            <a:r>
              <a:rPr sz="850" b="1" i="0">
                <a:solidFill>
                  <a:srgbClr val="00C2FF"/>
                </a:solidFill>
              </a:rPr>
              <a:t>LAYER 1 — INPUT &amp; ROUTING</a:t>
            </a:r>
          </a:p>
        </p:txBody>
      </p:sp>
      <p:sp>
        <p:nvSpPr>
          <p:cNvPr id="9" name="Rounded Rectangle 8"/>
          <p:cNvSpPr/>
          <p:nvPr/>
        </p:nvSpPr>
        <p:spPr>
          <a:xfrm>
            <a:off x="594360" y="1581912"/>
            <a:ext cx="2583180" cy="347472"/>
          </a:xfrm>
          <a:prstGeom prst="roundRect">
            <a:avLst>
              <a:gd name="adj" fmla="val 15000"/>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591056"/>
            <a:ext cx="2583180" cy="329184"/>
          </a:xfrm>
          <a:prstGeom prst="rect">
            <a:avLst/>
          </a:prstGeom>
          <a:noFill/>
        </p:spPr>
        <p:txBody>
          <a:bodyPr wrap="square">
            <a:spAutoFit/>
          </a:bodyPr>
          <a:lstStyle/>
          <a:p>
            <a:pPr algn="ctr"/>
            <a:r>
              <a:rPr sz="750" b="1" i="0">
                <a:solidFill>
                  <a:srgbClr val="00C2FF"/>
                </a:solidFill>
              </a:rPr>
              <a:t>Client Brief</a:t>
            </a:r>
          </a:p>
        </p:txBody>
      </p:sp>
      <p:sp>
        <p:nvSpPr>
          <p:cNvPr id="11" name="Rounded Rectangle 10"/>
          <p:cNvSpPr/>
          <p:nvPr/>
        </p:nvSpPr>
        <p:spPr>
          <a:xfrm>
            <a:off x="3296412" y="1581912"/>
            <a:ext cx="2583180" cy="347472"/>
          </a:xfrm>
          <a:prstGeom prst="roundRect">
            <a:avLst>
              <a:gd name="adj" fmla="val 15000"/>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96412" y="1591056"/>
            <a:ext cx="2583180" cy="329184"/>
          </a:xfrm>
          <a:prstGeom prst="rect">
            <a:avLst/>
          </a:prstGeom>
          <a:noFill/>
        </p:spPr>
        <p:txBody>
          <a:bodyPr wrap="square">
            <a:spAutoFit/>
          </a:bodyPr>
          <a:lstStyle/>
          <a:p>
            <a:pPr algn="ctr"/>
            <a:r>
              <a:rPr sz="750" b="1" i="0">
                <a:solidFill>
                  <a:srgbClr val="00C2FF"/>
                </a:solidFill>
              </a:rPr>
              <a:t>ERP/EPM Task</a:t>
            </a:r>
          </a:p>
        </p:txBody>
      </p:sp>
      <p:sp>
        <p:nvSpPr>
          <p:cNvPr id="13" name="Rounded Rectangle 12"/>
          <p:cNvSpPr/>
          <p:nvPr/>
        </p:nvSpPr>
        <p:spPr>
          <a:xfrm>
            <a:off x="5998464" y="1581912"/>
            <a:ext cx="2583180" cy="347472"/>
          </a:xfrm>
          <a:prstGeom prst="roundRect">
            <a:avLst>
              <a:gd name="adj" fmla="val 15000"/>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98464" y="1591056"/>
            <a:ext cx="2583180" cy="329184"/>
          </a:xfrm>
          <a:prstGeom prst="rect">
            <a:avLst/>
          </a:prstGeom>
          <a:noFill/>
        </p:spPr>
        <p:txBody>
          <a:bodyPr wrap="square">
            <a:spAutoFit/>
          </a:bodyPr>
          <a:lstStyle/>
          <a:p>
            <a:pPr algn="ctr"/>
            <a:r>
              <a:rPr sz="750" b="1" i="0">
                <a:solidFill>
                  <a:srgbClr val="00C2FF"/>
                </a:solidFill>
              </a:rPr>
              <a:t>Accounting Query</a:t>
            </a:r>
          </a:p>
        </p:txBody>
      </p:sp>
      <p:sp>
        <p:nvSpPr>
          <p:cNvPr id="15" name="Rounded Rectangle 14"/>
          <p:cNvSpPr/>
          <p:nvPr/>
        </p:nvSpPr>
        <p:spPr>
          <a:xfrm>
            <a:off x="8700516" y="1581912"/>
            <a:ext cx="2583180" cy="347472"/>
          </a:xfrm>
          <a:prstGeom prst="roundRect">
            <a:avLst>
              <a:gd name="adj" fmla="val 15000"/>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700516" y="1591056"/>
            <a:ext cx="2583180" cy="329184"/>
          </a:xfrm>
          <a:prstGeom prst="rect">
            <a:avLst/>
          </a:prstGeom>
          <a:noFill/>
        </p:spPr>
        <p:txBody>
          <a:bodyPr wrap="square">
            <a:spAutoFit/>
          </a:bodyPr>
          <a:lstStyle/>
          <a:p>
            <a:pPr algn="ctr"/>
            <a:r>
              <a:rPr sz="750" b="1" i="0">
                <a:solidFill>
                  <a:srgbClr val="00C2FF"/>
                </a:solidFill>
              </a:rPr>
              <a:t>Pipeline Request</a:t>
            </a:r>
          </a:p>
        </p:txBody>
      </p:sp>
      <p:sp>
        <p:nvSpPr>
          <p:cNvPr id="17" name="Down Arrow 16"/>
          <p:cNvSpPr/>
          <p:nvPr/>
        </p:nvSpPr>
        <p:spPr>
          <a:xfrm>
            <a:off x="6007608" y="2039112"/>
            <a:ext cx="182880" cy="164592"/>
          </a:xfrm>
          <a:prstGeom prst="downArrow">
            <a:avLst/>
          </a:prstGeom>
          <a:solidFill>
            <a:srgbClr val="1B6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20040" y="2240280"/>
            <a:ext cx="11521440" cy="804672"/>
          </a:xfrm>
          <a:prstGeom prst="roundRect">
            <a:avLst>
              <a:gd name="adj" fmla="val 8000"/>
            </a:avLst>
          </a:prstGeom>
          <a:solidFill>
            <a:srgbClr val="162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20040" y="2240280"/>
            <a:ext cx="11521440" cy="36576"/>
          </a:xfrm>
          <a:prstGeom prst="rect">
            <a:avLst/>
          </a:prstGeom>
          <a:solidFill>
            <a:srgbClr val="1B6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2295144"/>
            <a:ext cx="3657600" cy="292608"/>
          </a:xfrm>
          <a:prstGeom prst="rect">
            <a:avLst/>
          </a:prstGeom>
          <a:noFill/>
        </p:spPr>
        <p:txBody>
          <a:bodyPr wrap="square">
            <a:spAutoFit/>
          </a:bodyPr>
          <a:lstStyle/>
          <a:p>
            <a:pPr algn="l"/>
            <a:r>
              <a:rPr sz="850" b="1" i="0">
                <a:solidFill>
                  <a:srgbClr val="1B6CA8"/>
                </a:solidFill>
              </a:rPr>
              <a:t>LAYER 2 — ORCHESTRATION  (OpenClaw State Machine)</a:t>
            </a:r>
          </a:p>
        </p:txBody>
      </p:sp>
      <p:sp>
        <p:nvSpPr>
          <p:cNvPr id="21" name="Rounded Rectangle 20"/>
          <p:cNvSpPr/>
          <p:nvPr/>
        </p:nvSpPr>
        <p:spPr>
          <a:xfrm>
            <a:off x="594360" y="2587752"/>
            <a:ext cx="2583180" cy="347472"/>
          </a:xfrm>
          <a:prstGeom prst="roundRect">
            <a:avLst>
              <a:gd name="adj" fmla="val 15000"/>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4360" y="2596896"/>
            <a:ext cx="2583180" cy="329184"/>
          </a:xfrm>
          <a:prstGeom prst="rect">
            <a:avLst/>
          </a:prstGeom>
          <a:noFill/>
        </p:spPr>
        <p:txBody>
          <a:bodyPr wrap="square">
            <a:spAutoFit/>
          </a:bodyPr>
          <a:lstStyle/>
          <a:p>
            <a:pPr algn="ctr"/>
            <a:r>
              <a:rPr sz="750" b="1" i="0">
                <a:solidFill>
                  <a:srgbClr val="1B6CA8"/>
                </a:solidFill>
              </a:rPr>
              <a:t>Classify Task</a:t>
            </a:r>
          </a:p>
        </p:txBody>
      </p:sp>
      <p:sp>
        <p:nvSpPr>
          <p:cNvPr id="23" name="Rounded Rectangle 22"/>
          <p:cNvSpPr/>
          <p:nvPr/>
        </p:nvSpPr>
        <p:spPr>
          <a:xfrm>
            <a:off x="3296412" y="2587752"/>
            <a:ext cx="2583180" cy="347472"/>
          </a:xfrm>
          <a:prstGeom prst="roundRect">
            <a:avLst>
              <a:gd name="adj" fmla="val 15000"/>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296412" y="2596896"/>
            <a:ext cx="2583180" cy="329184"/>
          </a:xfrm>
          <a:prstGeom prst="rect">
            <a:avLst/>
          </a:prstGeom>
          <a:noFill/>
        </p:spPr>
        <p:txBody>
          <a:bodyPr wrap="square">
            <a:spAutoFit/>
          </a:bodyPr>
          <a:lstStyle/>
          <a:p>
            <a:pPr algn="ctr"/>
            <a:r>
              <a:rPr sz="750" b="1" i="0">
                <a:solidFill>
                  <a:srgbClr val="1B6CA8"/>
                </a:solidFill>
              </a:rPr>
              <a:t>Route to Agent</a:t>
            </a:r>
          </a:p>
        </p:txBody>
      </p:sp>
      <p:sp>
        <p:nvSpPr>
          <p:cNvPr id="25" name="Rounded Rectangle 24"/>
          <p:cNvSpPr/>
          <p:nvPr/>
        </p:nvSpPr>
        <p:spPr>
          <a:xfrm>
            <a:off x="5998464" y="2587752"/>
            <a:ext cx="2583180" cy="347472"/>
          </a:xfrm>
          <a:prstGeom prst="roundRect">
            <a:avLst>
              <a:gd name="adj" fmla="val 15000"/>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98464" y="2596896"/>
            <a:ext cx="2583180" cy="329184"/>
          </a:xfrm>
          <a:prstGeom prst="rect">
            <a:avLst/>
          </a:prstGeom>
          <a:noFill/>
        </p:spPr>
        <p:txBody>
          <a:bodyPr wrap="square">
            <a:spAutoFit/>
          </a:bodyPr>
          <a:lstStyle/>
          <a:p>
            <a:pPr algn="ctr"/>
            <a:r>
              <a:rPr sz="750" b="1" i="0">
                <a:solidFill>
                  <a:srgbClr val="1B6CA8"/>
                </a:solidFill>
              </a:rPr>
              <a:t>Execute</a:t>
            </a:r>
          </a:p>
        </p:txBody>
      </p:sp>
      <p:sp>
        <p:nvSpPr>
          <p:cNvPr id="27" name="Rounded Rectangle 26"/>
          <p:cNvSpPr/>
          <p:nvPr/>
        </p:nvSpPr>
        <p:spPr>
          <a:xfrm>
            <a:off x="8700516" y="2587752"/>
            <a:ext cx="2583180" cy="347472"/>
          </a:xfrm>
          <a:prstGeom prst="roundRect">
            <a:avLst>
              <a:gd name="adj" fmla="val 15000"/>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700516" y="2596896"/>
            <a:ext cx="2583180" cy="329184"/>
          </a:xfrm>
          <a:prstGeom prst="rect">
            <a:avLst/>
          </a:prstGeom>
          <a:noFill/>
        </p:spPr>
        <p:txBody>
          <a:bodyPr wrap="square">
            <a:spAutoFit/>
          </a:bodyPr>
          <a:lstStyle/>
          <a:p>
            <a:pPr algn="ctr"/>
            <a:r>
              <a:rPr sz="750" b="1" i="0">
                <a:solidFill>
                  <a:srgbClr val="1B6CA8"/>
                </a:solidFill>
              </a:rPr>
              <a:t>Synthesise Output</a:t>
            </a:r>
          </a:p>
        </p:txBody>
      </p:sp>
      <p:sp>
        <p:nvSpPr>
          <p:cNvPr id="29" name="Down Arrow 28"/>
          <p:cNvSpPr/>
          <p:nvPr/>
        </p:nvSpPr>
        <p:spPr>
          <a:xfrm>
            <a:off x="6007608" y="3044952"/>
            <a:ext cx="182880" cy="164592"/>
          </a:xfrm>
          <a:prstGeom prst="downArrow">
            <a:avLst/>
          </a:prstGeom>
          <a:solidFill>
            <a:srgbClr val="00D4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320040" y="3246120"/>
            <a:ext cx="11521440" cy="1234440"/>
          </a:xfrm>
          <a:prstGeom prst="roundRect">
            <a:avLst>
              <a:gd name="adj" fmla="val 8000"/>
            </a:avLst>
          </a:prstGeom>
          <a:solidFill>
            <a:srgbClr val="162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20040" y="3246120"/>
            <a:ext cx="11521440" cy="36576"/>
          </a:xfrm>
          <a:prstGeom prst="rect">
            <a:avLst/>
          </a:prstGeom>
          <a:solidFill>
            <a:srgbClr val="00D4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7200" y="3300984"/>
            <a:ext cx="3657600" cy="292608"/>
          </a:xfrm>
          <a:prstGeom prst="rect">
            <a:avLst/>
          </a:prstGeom>
          <a:noFill/>
        </p:spPr>
        <p:txBody>
          <a:bodyPr wrap="square">
            <a:spAutoFit/>
          </a:bodyPr>
          <a:lstStyle/>
          <a:p>
            <a:pPr algn="l"/>
            <a:r>
              <a:rPr sz="850" b="1" i="0">
                <a:solidFill>
                  <a:srgbClr val="00D48A"/>
                </a:solidFill>
              </a:rPr>
              <a:t>LAYER 3 — AGENT NETWORK  (Rudra + 8 Specialists)</a:t>
            </a:r>
          </a:p>
        </p:txBody>
      </p:sp>
      <p:sp>
        <p:nvSpPr>
          <p:cNvPr id="33" name="Rounded Rectangle 32"/>
          <p:cNvSpPr/>
          <p:nvPr/>
        </p:nvSpPr>
        <p:spPr>
          <a:xfrm>
            <a:off x="594360" y="3630168"/>
            <a:ext cx="1268730" cy="713232"/>
          </a:xfrm>
          <a:prstGeom prst="roundRect">
            <a:avLst>
              <a:gd name="adj" fmla="val 15000"/>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94360" y="3639311"/>
            <a:ext cx="1268730" cy="694944"/>
          </a:xfrm>
          <a:prstGeom prst="rect">
            <a:avLst/>
          </a:prstGeom>
          <a:noFill/>
        </p:spPr>
        <p:txBody>
          <a:bodyPr wrap="square">
            <a:spAutoFit/>
          </a:bodyPr>
          <a:lstStyle/>
          <a:p>
            <a:pPr algn="ctr"/>
            <a:r>
              <a:rPr sz="750" b="1" i="0">
                <a:solidFill>
                  <a:srgbClr val="00D48A"/>
                </a:solidFill>
              </a:rPr>
              <a:t>Rudra
(Principal)</a:t>
            </a:r>
          </a:p>
        </p:txBody>
      </p:sp>
      <p:sp>
        <p:nvSpPr>
          <p:cNvPr id="35" name="Rounded Rectangle 34"/>
          <p:cNvSpPr/>
          <p:nvPr/>
        </p:nvSpPr>
        <p:spPr>
          <a:xfrm>
            <a:off x="1981962" y="3630168"/>
            <a:ext cx="1268730" cy="713232"/>
          </a:xfrm>
          <a:prstGeom prst="roundRect">
            <a:avLst>
              <a:gd name="adj" fmla="val 15000"/>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981962" y="3639311"/>
            <a:ext cx="1268730" cy="694944"/>
          </a:xfrm>
          <a:prstGeom prst="rect">
            <a:avLst/>
          </a:prstGeom>
          <a:noFill/>
        </p:spPr>
        <p:txBody>
          <a:bodyPr wrap="square">
            <a:spAutoFit/>
          </a:bodyPr>
          <a:lstStyle/>
          <a:p>
            <a:pPr algn="ctr"/>
            <a:r>
              <a:rPr sz="750" b="1" i="0">
                <a:solidFill>
                  <a:srgbClr val="00D48A"/>
                </a:solidFill>
              </a:rPr>
              <a:t>Accounting
Policy</a:t>
            </a:r>
          </a:p>
        </p:txBody>
      </p:sp>
      <p:sp>
        <p:nvSpPr>
          <p:cNvPr id="37" name="Rounded Rectangle 36"/>
          <p:cNvSpPr/>
          <p:nvPr/>
        </p:nvSpPr>
        <p:spPr>
          <a:xfrm>
            <a:off x="3369564" y="3630168"/>
            <a:ext cx="1268730" cy="713232"/>
          </a:xfrm>
          <a:prstGeom prst="roundRect">
            <a:avLst>
              <a:gd name="adj" fmla="val 15000"/>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369564" y="3639311"/>
            <a:ext cx="1268730" cy="694944"/>
          </a:xfrm>
          <a:prstGeom prst="rect">
            <a:avLst/>
          </a:prstGeom>
          <a:noFill/>
        </p:spPr>
        <p:txBody>
          <a:bodyPr wrap="square">
            <a:spAutoFit/>
          </a:bodyPr>
          <a:lstStyle/>
          <a:p>
            <a:pPr algn="ctr"/>
            <a:r>
              <a:rPr sz="750" b="1" i="0">
                <a:solidFill>
                  <a:srgbClr val="00D48A"/>
                </a:solidFill>
              </a:rPr>
              <a:t>Revenue
Recog.</a:t>
            </a:r>
          </a:p>
        </p:txBody>
      </p:sp>
      <p:sp>
        <p:nvSpPr>
          <p:cNvPr id="39" name="Rounded Rectangle 38"/>
          <p:cNvSpPr/>
          <p:nvPr/>
        </p:nvSpPr>
        <p:spPr>
          <a:xfrm>
            <a:off x="4757166" y="3630168"/>
            <a:ext cx="1268730" cy="713232"/>
          </a:xfrm>
          <a:prstGeom prst="roundRect">
            <a:avLst>
              <a:gd name="adj" fmla="val 15000"/>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757166" y="3639311"/>
            <a:ext cx="1268730" cy="694944"/>
          </a:xfrm>
          <a:prstGeom prst="rect">
            <a:avLst/>
          </a:prstGeom>
          <a:noFill/>
        </p:spPr>
        <p:txBody>
          <a:bodyPr wrap="square">
            <a:spAutoFit/>
          </a:bodyPr>
          <a:lstStyle/>
          <a:p>
            <a:pPr algn="ctr"/>
            <a:r>
              <a:rPr sz="750" b="1" i="0">
                <a:solidFill>
                  <a:srgbClr val="00D48A"/>
                </a:solidFill>
              </a:rPr>
              <a:t>Lease /
Tax / M&amp;A</a:t>
            </a:r>
          </a:p>
        </p:txBody>
      </p:sp>
      <p:sp>
        <p:nvSpPr>
          <p:cNvPr id="41" name="Rounded Rectangle 40"/>
          <p:cNvSpPr/>
          <p:nvPr/>
        </p:nvSpPr>
        <p:spPr>
          <a:xfrm>
            <a:off x="6144768" y="3630168"/>
            <a:ext cx="1268730" cy="713232"/>
          </a:xfrm>
          <a:prstGeom prst="roundRect">
            <a:avLst>
              <a:gd name="adj" fmla="val 15000"/>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144768" y="3639311"/>
            <a:ext cx="1268730" cy="694944"/>
          </a:xfrm>
          <a:prstGeom prst="rect">
            <a:avLst/>
          </a:prstGeom>
          <a:noFill/>
        </p:spPr>
        <p:txBody>
          <a:bodyPr wrap="square">
            <a:spAutoFit/>
          </a:bodyPr>
          <a:lstStyle/>
          <a:p>
            <a:pPr algn="ctr"/>
            <a:r>
              <a:rPr sz="750" b="1" i="0">
                <a:solidFill>
                  <a:srgbClr val="00D48A"/>
                </a:solidFill>
              </a:rPr>
              <a:t>EPM
Modeling</a:t>
            </a:r>
          </a:p>
        </p:txBody>
      </p:sp>
      <p:sp>
        <p:nvSpPr>
          <p:cNvPr id="43" name="Rounded Rectangle 42"/>
          <p:cNvSpPr/>
          <p:nvPr/>
        </p:nvSpPr>
        <p:spPr>
          <a:xfrm>
            <a:off x="7532370" y="3630168"/>
            <a:ext cx="1268730" cy="713232"/>
          </a:xfrm>
          <a:prstGeom prst="roundRect">
            <a:avLst>
              <a:gd name="adj" fmla="val 15000"/>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532370" y="3639311"/>
            <a:ext cx="1268730" cy="694944"/>
          </a:xfrm>
          <a:prstGeom prst="rect">
            <a:avLst/>
          </a:prstGeom>
          <a:noFill/>
        </p:spPr>
        <p:txBody>
          <a:bodyPr wrap="square">
            <a:spAutoFit/>
          </a:bodyPr>
          <a:lstStyle/>
          <a:p>
            <a:pPr algn="ctr"/>
            <a:r>
              <a:rPr sz="750" b="1" i="0">
                <a:solidFill>
                  <a:srgbClr val="00D48A"/>
                </a:solidFill>
              </a:rPr>
              <a:t>Creative
Designer</a:t>
            </a:r>
          </a:p>
        </p:txBody>
      </p:sp>
      <p:sp>
        <p:nvSpPr>
          <p:cNvPr id="45" name="Rounded Rectangle 44"/>
          <p:cNvSpPr/>
          <p:nvPr/>
        </p:nvSpPr>
        <p:spPr>
          <a:xfrm>
            <a:off x="8919972" y="3630168"/>
            <a:ext cx="1268730" cy="713232"/>
          </a:xfrm>
          <a:prstGeom prst="roundRect">
            <a:avLst>
              <a:gd name="adj" fmla="val 15000"/>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19972" y="3639311"/>
            <a:ext cx="1268730" cy="694944"/>
          </a:xfrm>
          <a:prstGeom prst="rect">
            <a:avLst/>
          </a:prstGeom>
          <a:noFill/>
        </p:spPr>
        <p:txBody>
          <a:bodyPr wrap="square">
            <a:spAutoFit/>
          </a:bodyPr>
          <a:lstStyle/>
          <a:p>
            <a:pPr algn="ctr"/>
            <a:r>
              <a:rPr sz="750" b="1" i="0">
                <a:solidFill>
                  <a:srgbClr val="00D48A"/>
                </a:solidFill>
              </a:rPr>
              <a:t>Databricks
Pipeline</a:t>
            </a:r>
          </a:p>
        </p:txBody>
      </p:sp>
      <p:sp>
        <p:nvSpPr>
          <p:cNvPr id="47" name="Rounded Rectangle 46"/>
          <p:cNvSpPr/>
          <p:nvPr/>
        </p:nvSpPr>
        <p:spPr>
          <a:xfrm>
            <a:off x="10307574" y="3630168"/>
            <a:ext cx="1268730" cy="713232"/>
          </a:xfrm>
          <a:prstGeom prst="roundRect">
            <a:avLst>
              <a:gd name="adj" fmla="val 15000"/>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307574" y="3639311"/>
            <a:ext cx="1268730" cy="694944"/>
          </a:xfrm>
          <a:prstGeom prst="rect">
            <a:avLst/>
          </a:prstGeom>
          <a:noFill/>
        </p:spPr>
        <p:txBody>
          <a:bodyPr wrap="square">
            <a:spAutoFit/>
          </a:bodyPr>
          <a:lstStyle/>
          <a:p>
            <a:pPr algn="ctr"/>
            <a:r>
              <a:rPr sz="750" b="1" i="0">
                <a:solidFill>
                  <a:srgbClr val="00D48A"/>
                </a:solidFill>
              </a:rPr>
              <a:t>Financial
Modeling</a:t>
            </a:r>
          </a:p>
        </p:txBody>
      </p:sp>
      <p:sp>
        <p:nvSpPr>
          <p:cNvPr id="49" name="Down Arrow 48"/>
          <p:cNvSpPr/>
          <p:nvPr/>
        </p:nvSpPr>
        <p:spPr>
          <a:xfrm>
            <a:off x="6007608" y="4480560"/>
            <a:ext cx="182880" cy="164592"/>
          </a:xfrm>
          <a:prstGeom prst="downArrow">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320040" y="4663440"/>
            <a:ext cx="11521440" cy="804672"/>
          </a:xfrm>
          <a:prstGeom prst="roundRect">
            <a:avLst>
              <a:gd name="adj" fmla="val 8000"/>
            </a:avLst>
          </a:prstGeom>
          <a:solidFill>
            <a:srgbClr val="162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320040" y="4663440"/>
            <a:ext cx="11521440" cy="36576"/>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57200" y="4718303"/>
            <a:ext cx="3657600" cy="292608"/>
          </a:xfrm>
          <a:prstGeom prst="rect">
            <a:avLst/>
          </a:prstGeom>
          <a:noFill/>
        </p:spPr>
        <p:txBody>
          <a:bodyPr wrap="square">
            <a:spAutoFit/>
          </a:bodyPr>
          <a:lstStyle/>
          <a:p>
            <a:pPr algn="l"/>
            <a:r>
              <a:rPr sz="850" b="1" i="0">
                <a:solidFill>
                  <a:srgbClr val="FF8C00"/>
                </a:solidFill>
              </a:rPr>
              <a:t>LAYER 4 — TOOL ECOSYSTEM</a:t>
            </a:r>
          </a:p>
        </p:txBody>
      </p:sp>
      <p:sp>
        <p:nvSpPr>
          <p:cNvPr id="53" name="Rounded Rectangle 52"/>
          <p:cNvSpPr/>
          <p:nvPr/>
        </p:nvSpPr>
        <p:spPr>
          <a:xfrm>
            <a:off x="594360" y="5010912"/>
            <a:ext cx="1456508" cy="347472"/>
          </a:xfrm>
          <a:prstGeom prst="roundRect">
            <a:avLst>
              <a:gd name="adj" fmla="val 15000"/>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94360" y="5020055"/>
            <a:ext cx="1456508" cy="329184"/>
          </a:xfrm>
          <a:prstGeom prst="rect">
            <a:avLst/>
          </a:prstGeom>
          <a:noFill/>
        </p:spPr>
        <p:txBody>
          <a:bodyPr wrap="square">
            <a:spAutoFit/>
          </a:bodyPr>
          <a:lstStyle/>
          <a:p>
            <a:pPr algn="ctr"/>
            <a:r>
              <a:rPr sz="750" b="1" i="0">
                <a:solidFill>
                  <a:srgbClr val="FF8C00"/>
                </a:solidFill>
              </a:rPr>
              <a:t>Claude
Opus 4.6</a:t>
            </a:r>
          </a:p>
        </p:txBody>
      </p:sp>
      <p:sp>
        <p:nvSpPr>
          <p:cNvPr id="55" name="Rounded Rectangle 54"/>
          <p:cNvSpPr/>
          <p:nvPr/>
        </p:nvSpPr>
        <p:spPr>
          <a:xfrm>
            <a:off x="2169740" y="5010912"/>
            <a:ext cx="1456508" cy="347472"/>
          </a:xfrm>
          <a:prstGeom prst="roundRect">
            <a:avLst>
              <a:gd name="adj" fmla="val 15000"/>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2169740" y="5020055"/>
            <a:ext cx="1456508" cy="329184"/>
          </a:xfrm>
          <a:prstGeom prst="rect">
            <a:avLst/>
          </a:prstGeom>
          <a:noFill/>
        </p:spPr>
        <p:txBody>
          <a:bodyPr wrap="square">
            <a:spAutoFit/>
          </a:bodyPr>
          <a:lstStyle/>
          <a:p>
            <a:pPr algn="ctr"/>
            <a:r>
              <a:rPr sz="750" b="1" i="0">
                <a:solidFill>
                  <a:srgbClr val="FF8C00"/>
                </a:solidFill>
              </a:rPr>
              <a:t>OpenClaw
GPT-4o</a:t>
            </a:r>
          </a:p>
        </p:txBody>
      </p:sp>
      <p:sp>
        <p:nvSpPr>
          <p:cNvPr id="57" name="Rounded Rectangle 56"/>
          <p:cNvSpPr/>
          <p:nvPr/>
        </p:nvSpPr>
        <p:spPr>
          <a:xfrm>
            <a:off x="3745121" y="5010912"/>
            <a:ext cx="1456508" cy="347472"/>
          </a:xfrm>
          <a:prstGeom prst="roundRect">
            <a:avLst>
              <a:gd name="adj" fmla="val 15000"/>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745121" y="5020055"/>
            <a:ext cx="1456508" cy="329184"/>
          </a:xfrm>
          <a:prstGeom prst="rect">
            <a:avLst/>
          </a:prstGeom>
          <a:noFill/>
        </p:spPr>
        <p:txBody>
          <a:bodyPr wrap="square">
            <a:spAutoFit/>
          </a:bodyPr>
          <a:lstStyle/>
          <a:p>
            <a:pPr algn="ctr"/>
            <a:r>
              <a:rPr sz="750" b="1" i="0">
                <a:solidFill>
                  <a:srgbClr val="FF8C00"/>
                </a:solidFill>
              </a:rPr>
              <a:t>Qwen 2.5</a:t>
            </a:r>
          </a:p>
        </p:txBody>
      </p:sp>
      <p:sp>
        <p:nvSpPr>
          <p:cNvPr id="59" name="Rounded Rectangle 58"/>
          <p:cNvSpPr/>
          <p:nvPr/>
        </p:nvSpPr>
        <p:spPr>
          <a:xfrm>
            <a:off x="5320501" y="5010912"/>
            <a:ext cx="1456508" cy="347472"/>
          </a:xfrm>
          <a:prstGeom prst="roundRect">
            <a:avLst>
              <a:gd name="adj" fmla="val 15000"/>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320501" y="5020055"/>
            <a:ext cx="1456508" cy="329184"/>
          </a:xfrm>
          <a:prstGeom prst="rect">
            <a:avLst/>
          </a:prstGeom>
          <a:noFill/>
        </p:spPr>
        <p:txBody>
          <a:bodyPr wrap="square">
            <a:spAutoFit/>
          </a:bodyPr>
          <a:lstStyle/>
          <a:p>
            <a:pPr algn="ctr"/>
            <a:r>
              <a:rPr sz="750" b="1" i="0">
                <a:solidFill>
                  <a:srgbClr val="FF8C00"/>
                </a:solidFill>
              </a:rPr>
              <a:t>Canva
MCP</a:t>
            </a:r>
          </a:p>
        </p:txBody>
      </p:sp>
      <p:sp>
        <p:nvSpPr>
          <p:cNvPr id="61" name="Rounded Rectangle 60"/>
          <p:cNvSpPr/>
          <p:nvPr/>
        </p:nvSpPr>
        <p:spPr>
          <a:xfrm>
            <a:off x="6895882" y="5010912"/>
            <a:ext cx="1456508" cy="347472"/>
          </a:xfrm>
          <a:prstGeom prst="roundRect">
            <a:avLst>
              <a:gd name="adj" fmla="val 15000"/>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895882" y="5020055"/>
            <a:ext cx="1456508" cy="329184"/>
          </a:xfrm>
          <a:prstGeom prst="rect">
            <a:avLst/>
          </a:prstGeom>
          <a:noFill/>
        </p:spPr>
        <p:txBody>
          <a:bodyPr wrap="square">
            <a:spAutoFit/>
          </a:bodyPr>
          <a:lstStyle/>
          <a:p>
            <a:pPr algn="ctr"/>
            <a:r>
              <a:rPr sz="750" b="1" i="0">
                <a:solidFill>
                  <a:srgbClr val="FF8C00"/>
                </a:solidFill>
              </a:rPr>
              <a:t>Databricks
Vector DB</a:t>
            </a:r>
          </a:p>
        </p:txBody>
      </p:sp>
      <p:sp>
        <p:nvSpPr>
          <p:cNvPr id="63" name="Rounded Rectangle 62"/>
          <p:cNvSpPr/>
          <p:nvPr/>
        </p:nvSpPr>
        <p:spPr>
          <a:xfrm>
            <a:off x="8471262" y="5010912"/>
            <a:ext cx="1456508" cy="347472"/>
          </a:xfrm>
          <a:prstGeom prst="roundRect">
            <a:avLst>
              <a:gd name="adj" fmla="val 15000"/>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471262" y="5020055"/>
            <a:ext cx="1456508" cy="329184"/>
          </a:xfrm>
          <a:prstGeom prst="rect">
            <a:avLst/>
          </a:prstGeom>
          <a:noFill/>
        </p:spPr>
        <p:txBody>
          <a:bodyPr wrap="square">
            <a:spAutoFit/>
          </a:bodyPr>
          <a:lstStyle/>
          <a:p>
            <a:pPr algn="ctr"/>
            <a:r>
              <a:rPr sz="750" b="1" i="0">
                <a:solidFill>
                  <a:srgbClr val="FF8C00"/>
                </a:solidFill>
              </a:rPr>
              <a:t>Video
Animation</a:t>
            </a:r>
          </a:p>
        </p:txBody>
      </p:sp>
      <p:sp>
        <p:nvSpPr>
          <p:cNvPr id="65" name="Rounded Rectangle 64"/>
          <p:cNvSpPr/>
          <p:nvPr/>
        </p:nvSpPr>
        <p:spPr>
          <a:xfrm>
            <a:off x="10046643" y="5010912"/>
            <a:ext cx="1456508" cy="347472"/>
          </a:xfrm>
          <a:prstGeom prst="roundRect">
            <a:avLst>
              <a:gd name="adj" fmla="val 15000"/>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10046643" y="5020055"/>
            <a:ext cx="1456508" cy="329184"/>
          </a:xfrm>
          <a:prstGeom prst="rect">
            <a:avLst/>
          </a:prstGeom>
          <a:noFill/>
        </p:spPr>
        <p:txBody>
          <a:bodyPr wrap="square">
            <a:spAutoFit/>
          </a:bodyPr>
          <a:lstStyle/>
          <a:p>
            <a:pPr algn="ctr"/>
            <a:r>
              <a:rPr sz="750" b="1" i="0">
                <a:solidFill>
                  <a:srgbClr val="FF8C00"/>
                </a:solidFill>
              </a:rPr>
              <a:t>ERP/EPM
Tools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73152" cy="6858000"/>
          </a:xfrm>
          <a:prstGeom prst="rect">
            <a:avLst/>
          </a:prstGeom>
          <a:solidFill>
            <a:srgbClr val="1B6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4572000" cy="347472"/>
          </a:xfrm>
          <a:prstGeom prst="rect">
            <a:avLst/>
          </a:prstGeom>
          <a:noFill/>
        </p:spPr>
        <p:txBody>
          <a:bodyPr wrap="square">
            <a:spAutoFit/>
          </a:bodyPr>
          <a:lstStyle/>
          <a:p>
            <a:pPr algn="l"/>
            <a:r>
              <a:rPr sz="1000" b="1" i="0">
                <a:solidFill>
                  <a:srgbClr val="00C2FF"/>
                </a:solidFill>
              </a:rPr>
              <a:t>THE MODEL LAYER</a:t>
            </a:r>
          </a:p>
        </p:txBody>
      </p:sp>
      <p:sp>
        <p:nvSpPr>
          <p:cNvPr id="4" name="TextBox 3"/>
          <p:cNvSpPr txBox="1"/>
          <p:nvPr/>
        </p:nvSpPr>
        <p:spPr>
          <a:xfrm>
            <a:off x="320040" y="475488"/>
            <a:ext cx="11430000" cy="658368"/>
          </a:xfrm>
          <a:prstGeom prst="rect">
            <a:avLst/>
          </a:prstGeom>
          <a:noFill/>
        </p:spPr>
        <p:txBody>
          <a:bodyPr wrap="square">
            <a:spAutoFit/>
          </a:bodyPr>
          <a:lstStyle/>
          <a:p>
            <a:pPr algn="l"/>
            <a:r>
              <a:rPr sz="2600" b="1" i="0">
                <a:solidFill>
                  <a:srgbClr val="FFFFFF"/>
                </a:solidFill>
              </a:rPr>
              <a:t>Right Model, Right Task — Intelligent Routing</a:t>
            </a:r>
          </a:p>
        </p:txBody>
      </p:sp>
      <p:sp>
        <p:nvSpPr>
          <p:cNvPr id="5" name="Rectangle 4"/>
          <p:cNvSpPr/>
          <p:nvPr/>
        </p:nvSpPr>
        <p:spPr>
          <a:xfrm>
            <a:off x="320040" y="1170432"/>
            <a:ext cx="11411712" cy="22860"/>
          </a:xfrm>
          <a:prstGeom prst="rect">
            <a:avLst/>
          </a:prstGeom>
          <a:solidFill>
            <a:srgbClr val="1B6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320040" y="1298448"/>
            <a:ext cx="3767328" cy="5166360"/>
          </a:xfrm>
          <a:prstGeom prst="roundRect">
            <a:avLst>
              <a:gd name="adj" fmla="val 8000"/>
            </a:avLst>
          </a:prstGeom>
          <a:solidFill>
            <a:srgbClr val="162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 y="1298448"/>
            <a:ext cx="3767328" cy="54864"/>
          </a:xfrm>
          <a:prstGeom prst="rect">
            <a:avLst/>
          </a:prstGeom>
          <a:solidFill>
            <a:srgbClr val="1B6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389888"/>
            <a:ext cx="3538728" cy="274320"/>
          </a:xfrm>
          <a:prstGeom prst="rect">
            <a:avLst/>
          </a:prstGeom>
          <a:noFill/>
        </p:spPr>
        <p:txBody>
          <a:bodyPr wrap="square">
            <a:spAutoFit/>
          </a:bodyPr>
          <a:lstStyle/>
          <a:p>
            <a:pPr algn="l"/>
            <a:r>
              <a:rPr sz="750" b="1" i="0">
                <a:solidFill>
                  <a:srgbClr val="1B6CA8"/>
                </a:solidFill>
              </a:rPr>
              <a:t>PRIMARY REASONING ENGINE</a:t>
            </a:r>
          </a:p>
        </p:txBody>
      </p:sp>
      <p:sp>
        <p:nvSpPr>
          <p:cNvPr id="9" name="TextBox 8"/>
          <p:cNvSpPr txBox="1"/>
          <p:nvPr/>
        </p:nvSpPr>
        <p:spPr>
          <a:xfrm>
            <a:off x="457200" y="1664208"/>
            <a:ext cx="3538728" cy="475488"/>
          </a:xfrm>
          <a:prstGeom prst="rect">
            <a:avLst/>
          </a:prstGeom>
          <a:noFill/>
        </p:spPr>
        <p:txBody>
          <a:bodyPr wrap="square">
            <a:spAutoFit/>
          </a:bodyPr>
          <a:lstStyle/>
          <a:p>
            <a:pPr algn="l"/>
            <a:r>
              <a:rPr sz="1700" b="1" i="0">
                <a:solidFill>
                  <a:srgbClr val="FFFFFF"/>
                </a:solidFill>
              </a:rPr>
              <a:t>Claude Opus 4.6</a:t>
            </a:r>
          </a:p>
        </p:txBody>
      </p:sp>
      <p:sp>
        <p:nvSpPr>
          <p:cNvPr id="10" name="TextBox 9"/>
          <p:cNvSpPr txBox="1"/>
          <p:nvPr/>
        </p:nvSpPr>
        <p:spPr>
          <a:xfrm>
            <a:off x="457200" y="2121408"/>
            <a:ext cx="3538728" cy="274320"/>
          </a:xfrm>
          <a:prstGeom prst="rect">
            <a:avLst/>
          </a:prstGeom>
          <a:noFill/>
        </p:spPr>
        <p:txBody>
          <a:bodyPr wrap="square">
            <a:spAutoFit/>
          </a:bodyPr>
          <a:lstStyle/>
          <a:p>
            <a:pPr algn="l"/>
            <a:r>
              <a:rPr sz="900" b="0" i="0">
                <a:solidFill>
                  <a:srgbClr val="556B82"/>
                </a:solidFill>
              </a:rPr>
              <a:t>Anthropic</a:t>
            </a:r>
          </a:p>
        </p:txBody>
      </p:sp>
      <p:sp>
        <p:nvSpPr>
          <p:cNvPr id="11" name="Rectangle 10"/>
          <p:cNvSpPr/>
          <p:nvPr/>
        </p:nvSpPr>
        <p:spPr>
          <a:xfrm>
            <a:off x="411479" y="2423160"/>
            <a:ext cx="3584448" cy="22860"/>
          </a:xfrm>
          <a:prstGeom prst="rect">
            <a:avLst/>
          </a:prstGeom>
          <a:solidFill>
            <a:srgbClr val="556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2487168"/>
            <a:ext cx="3538728" cy="237744"/>
          </a:xfrm>
          <a:prstGeom prst="rect">
            <a:avLst/>
          </a:prstGeom>
          <a:noFill/>
        </p:spPr>
        <p:txBody>
          <a:bodyPr wrap="square">
            <a:spAutoFit/>
          </a:bodyPr>
          <a:lstStyle/>
          <a:p>
            <a:pPr algn="l"/>
            <a:r>
              <a:rPr sz="750" b="1" i="0">
                <a:solidFill>
                  <a:srgbClr val="1B6CA8"/>
                </a:solidFill>
              </a:rPr>
              <a:t>USE CASES</a:t>
            </a:r>
          </a:p>
        </p:txBody>
      </p:sp>
      <p:sp>
        <p:nvSpPr>
          <p:cNvPr id="13" name="TextBox 12"/>
          <p:cNvSpPr txBox="1"/>
          <p:nvPr/>
        </p:nvSpPr>
        <p:spPr>
          <a:xfrm>
            <a:off x="457200" y="2761488"/>
            <a:ext cx="3538728" cy="274320"/>
          </a:xfrm>
          <a:prstGeom prst="rect">
            <a:avLst/>
          </a:prstGeom>
          <a:noFill/>
        </p:spPr>
        <p:txBody>
          <a:bodyPr wrap="square">
            <a:spAutoFit/>
          </a:bodyPr>
          <a:lstStyle/>
          <a:p>
            <a:pPr algn="l"/>
            <a:r>
              <a:rPr sz="900" b="0" i="0">
                <a:solidFill>
                  <a:srgbClr val="CCD6E0"/>
                </a:solidFill>
              </a:rPr>
              <a:t>→  Accounting policy (IFRS/GAAP)</a:t>
            </a:r>
          </a:p>
        </p:txBody>
      </p:sp>
      <p:sp>
        <p:nvSpPr>
          <p:cNvPr id="14" name="TextBox 13"/>
          <p:cNvSpPr txBox="1"/>
          <p:nvPr/>
        </p:nvSpPr>
        <p:spPr>
          <a:xfrm>
            <a:off x="457200" y="3054096"/>
            <a:ext cx="3538728" cy="274320"/>
          </a:xfrm>
          <a:prstGeom prst="rect">
            <a:avLst/>
          </a:prstGeom>
          <a:noFill/>
        </p:spPr>
        <p:txBody>
          <a:bodyPr wrap="square">
            <a:spAutoFit/>
          </a:bodyPr>
          <a:lstStyle/>
          <a:p>
            <a:pPr algn="l"/>
            <a:r>
              <a:rPr sz="900" b="0" i="0">
                <a:solidFill>
                  <a:srgbClr val="CCD6E0"/>
                </a:solidFill>
              </a:rPr>
              <a:t>→  Revenue recognition analysis</a:t>
            </a:r>
          </a:p>
        </p:txBody>
      </p:sp>
      <p:sp>
        <p:nvSpPr>
          <p:cNvPr id="15" name="TextBox 14"/>
          <p:cNvSpPr txBox="1"/>
          <p:nvPr/>
        </p:nvSpPr>
        <p:spPr>
          <a:xfrm>
            <a:off x="457200" y="3346703"/>
            <a:ext cx="3538728" cy="274320"/>
          </a:xfrm>
          <a:prstGeom prst="rect">
            <a:avLst/>
          </a:prstGeom>
          <a:noFill/>
        </p:spPr>
        <p:txBody>
          <a:bodyPr wrap="square">
            <a:spAutoFit/>
          </a:bodyPr>
          <a:lstStyle/>
          <a:p>
            <a:pPr algn="l"/>
            <a:r>
              <a:rPr sz="900" b="0" i="0">
                <a:solidFill>
                  <a:srgbClr val="CCD6E0"/>
                </a:solidFill>
              </a:rPr>
              <a:t>→  ERP/EPM architecture design</a:t>
            </a:r>
          </a:p>
        </p:txBody>
      </p:sp>
      <p:sp>
        <p:nvSpPr>
          <p:cNvPr id="16" name="TextBox 15"/>
          <p:cNvSpPr txBox="1"/>
          <p:nvPr/>
        </p:nvSpPr>
        <p:spPr>
          <a:xfrm>
            <a:off x="457200" y="3639311"/>
            <a:ext cx="3538728" cy="274320"/>
          </a:xfrm>
          <a:prstGeom prst="rect">
            <a:avLst/>
          </a:prstGeom>
          <a:noFill/>
        </p:spPr>
        <p:txBody>
          <a:bodyPr wrap="square">
            <a:spAutoFit/>
          </a:bodyPr>
          <a:lstStyle/>
          <a:p>
            <a:pPr algn="l"/>
            <a:r>
              <a:rPr sz="900" b="0" i="0">
                <a:solidFill>
                  <a:srgbClr val="CCD6E0"/>
                </a:solidFill>
              </a:rPr>
              <a:t>→  M&amp;A due diligence &amp; QoE</a:t>
            </a:r>
          </a:p>
        </p:txBody>
      </p:sp>
      <p:sp>
        <p:nvSpPr>
          <p:cNvPr id="17" name="TextBox 16"/>
          <p:cNvSpPr txBox="1"/>
          <p:nvPr/>
        </p:nvSpPr>
        <p:spPr>
          <a:xfrm>
            <a:off x="457200" y="3931920"/>
            <a:ext cx="3538728" cy="274320"/>
          </a:xfrm>
          <a:prstGeom prst="rect">
            <a:avLst/>
          </a:prstGeom>
          <a:noFill/>
        </p:spPr>
        <p:txBody>
          <a:bodyPr wrap="square">
            <a:spAutoFit/>
          </a:bodyPr>
          <a:lstStyle/>
          <a:p>
            <a:pPr algn="l"/>
            <a:r>
              <a:rPr sz="900" b="0" i="0">
                <a:solidFill>
                  <a:srgbClr val="CCD6E0"/>
                </a:solidFill>
              </a:rPr>
              <a:t>→  Lease &amp; tax accounting</a:t>
            </a:r>
          </a:p>
        </p:txBody>
      </p:sp>
      <p:sp>
        <p:nvSpPr>
          <p:cNvPr id="18" name="TextBox 17"/>
          <p:cNvSpPr txBox="1"/>
          <p:nvPr/>
        </p:nvSpPr>
        <p:spPr>
          <a:xfrm>
            <a:off x="457200" y="4224528"/>
            <a:ext cx="3538728" cy="274320"/>
          </a:xfrm>
          <a:prstGeom prst="rect">
            <a:avLst/>
          </a:prstGeom>
          <a:noFill/>
        </p:spPr>
        <p:txBody>
          <a:bodyPr wrap="square">
            <a:spAutoFit/>
          </a:bodyPr>
          <a:lstStyle/>
          <a:p>
            <a:pPr algn="l"/>
            <a:r>
              <a:rPr sz="900" b="0" i="0">
                <a:solidFill>
                  <a:srgbClr val="CCD6E0"/>
                </a:solidFill>
              </a:rPr>
              <a:t>→  Board-ready narrative writing</a:t>
            </a:r>
          </a:p>
        </p:txBody>
      </p:sp>
      <p:sp>
        <p:nvSpPr>
          <p:cNvPr id="19" name="Rectangle 18"/>
          <p:cNvSpPr/>
          <p:nvPr/>
        </p:nvSpPr>
        <p:spPr>
          <a:xfrm>
            <a:off x="411479" y="4572000"/>
            <a:ext cx="3584448" cy="22860"/>
          </a:xfrm>
          <a:prstGeom prst="rect">
            <a:avLst/>
          </a:prstGeom>
          <a:solidFill>
            <a:srgbClr val="556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4626864"/>
            <a:ext cx="3538728" cy="237744"/>
          </a:xfrm>
          <a:prstGeom prst="rect">
            <a:avLst/>
          </a:prstGeom>
          <a:noFill/>
        </p:spPr>
        <p:txBody>
          <a:bodyPr wrap="square">
            <a:spAutoFit/>
          </a:bodyPr>
          <a:lstStyle/>
          <a:p>
            <a:pPr algn="l"/>
            <a:r>
              <a:rPr sz="750" b="1" i="0">
                <a:solidFill>
                  <a:srgbClr val="1B6CA8"/>
                </a:solidFill>
              </a:rPr>
              <a:t>CAPABILITIES</a:t>
            </a:r>
          </a:p>
        </p:txBody>
      </p:sp>
      <p:sp>
        <p:nvSpPr>
          <p:cNvPr id="21" name="Rounded Rectangle 20"/>
          <p:cNvSpPr/>
          <p:nvPr/>
        </p:nvSpPr>
        <p:spPr>
          <a:xfrm>
            <a:off x="457200" y="4901184"/>
            <a:ext cx="1673352" cy="274320"/>
          </a:xfrm>
          <a:prstGeom prst="roundRect">
            <a:avLst>
              <a:gd name="adj" fmla="val 15000"/>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 y="4910328"/>
            <a:ext cx="1673352" cy="256031"/>
          </a:xfrm>
          <a:prstGeom prst="rect">
            <a:avLst/>
          </a:prstGeom>
          <a:noFill/>
        </p:spPr>
        <p:txBody>
          <a:bodyPr wrap="square">
            <a:spAutoFit/>
          </a:bodyPr>
          <a:lstStyle/>
          <a:p>
            <a:pPr algn="ctr"/>
            <a:r>
              <a:rPr sz="700" b="1" i="0">
                <a:solidFill>
                  <a:srgbClr val="1B6CA8"/>
                </a:solidFill>
              </a:rPr>
              <a:t>Adaptive Thinking</a:t>
            </a:r>
          </a:p>
        </p:txBody>
      </p:sp>
      <p:sp>
        <p:nvSpPr>
          <p:cNvPr id="23" name="Rounded Rectangle 22"/>
          <p:cNvSpPr/>
          <p:nvPr/>
        </p:nvSpPr>
        <p:spPr>
          <a:xfrm>
            <a:off x="2221992" y="4901184"/>
            <a:ext cx="1673352" cy="274320"/>
          </a:xfrm>
          <a:prstGeom prst="roundRect">
            <a:avLst>
              <a:gd name="adj" fmla="val 15000"/>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221992" y="4910328"/>
            <a:ext cx="1673352" cy="256031"/>
          </a:xfrm>
          <a:prstGeom prst="rect">
            <a:avLst/>
          </a:prstGeom>
          <a:noFill/>
        </p:spPr>
        <p:txBody>
          <a:bodyPr wrap="square">
            <a:spAutoFit/>
          </a:bodyPr>
          <a:lstStyle/>
          <a:p>
            <a:pPr algn="ctr"/>
            <a:r>
              <a:rPr sz="700" b="1" i="0">
                <a:solidFill>
                  <a:srgbClr val="1B6CA8"/>
                </a:solidFill>
              </a:rPr>
              <a:t>200K Context</a:t>
            </a:r>
          </a:p>
        </p:txBody>
      </p:sp>
      <p:sp>
        <p:nvSpPr>
          <p:cNvPr id="25" name="Rounded Rectangle 24"/>
          <p:cNvSpPr/>
          <p:nvPr/>
        </p:nvSpPr>
        <p:spPr>
          <a:xfrm>
            <a:off x="457200" y="5248656"/>
            <a:ext cx="1673352" cy="274320"/>
          </a:xfrm>
          <a:prstGeom prst="roundRect">
            <a:avLst>
              <a:gd name="adj" fmla="val 15000"/>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 y="5257800"/>
            <a:ext cx="1673352" cy="256031"/>
          </a:xfrm>
          <a:prstGeom prst="rect">
            <a:avLst/>
          </a:prstGeom>
          <a:noFill/>
        </p:spPr>
        <p:txBody>
          <a:bodyPr wrap="square">
            <a:spAutoFit/>
          </a:bodyPr>
          <a:lstStyle/>
          <a:p>
            <a:pPr algn="ctr"/>
            <a:r>
              <a:rPr sz="700" b="1" i="0">
                <a:solidFill>
                  <a:srgbClr val="1B6CA8"/>
                </a:solidFill>
              </a:rPr>
              <a:t>Tool Use</a:t>
            </a:r>
          </a:p>
        </p:txBody>
      </p:sp>
      <p:sp>
        <p:nvSpPr>
          <p:cNvPr id="27" name="Rounded Rectangle 26"/>
          <p:cNvSpPr/>
          <p:nvPr/>
        </p:nvSpPr>
        <p:spPr>
          <a:xfrm>
            <a:off x="2221992" y="5248656"/>
            <a:ext cx="1673352" cy="274320"/>
          </a:xfrm>
          <a:prstGeom prst="roundRect">
            <a:avLst>
              <a:gd name="adj" fmla="val 15000"/>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221992" y="5257800"/>
            <a:ext cx="1673352" cy="256031"/>
          </a:xfrm>
          <a:prstGeom prst="rect">
            <a:avLst/>
          </a:prstGeom>
          <a:noFill/>
        </p:spPr>
        <p:txBody>
          <a:bodyPr wrap="square">
            <a:spAutoFit/>
          </a:bodyPr>
          <a:lstStyle/>
          <a:p>
            <a:pPr algn="ctr"/>
            <a:r>
              <a:rPr sz="700" b="1" i="0">
                <a:solidFill>
                  <a:srgbClr val="1B6CA8"/>
                </a:solidFill>
              </a:rPr>
              <a:t>Streaming</a:t>
            </a:r>
          </a:p>
        </p:txBody>
      </p:sp>
      <p:sp>
        <p:nvSpPr>
          <p:cNvPr id="29" name="Rounded Rectangle 28"/>
          <p:cNvSpPr/>
          <p:nvPr/>
        </p:nvSpPr>
        <p:spPr>
          <a:xfrm>
            <a:off x="4389120" y="1298448"/>
            <a:ext cx="3767328" cy="5166360"/>
          </a:xfrm>
          <a:prstGeom prst="roundRect">
            <a:avLst>
              <a:gd name="adj" fmla="val 8000"/>
            </a:avLst>
          </a:prstGeom>
          <a:solidFill>
            <a:srgbClr val="162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89120" y="1298448"/>
            <a:ext cx="3767328" cy="54864"/>
          </a:xfrm>
          <a:prstGeom prst="rect">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26280" y="1389888"/>
            <a:ext cx="3538728" cy="274320"/>
          </a:xfrm>
          <a:prstGeom prst="rect">
            <a:avLst/>
          </a:prstGeom>
          <a:noFill/>
        </p:spPr>
        <p:txBody>
          <a:bodyPr wrap="square">
            <a:spAutoFit/>
          </a:bodyPr>
          <a:lstStyle/>
          <a:p>
            <a:pPr algn="l"/>
            <a:r>
              <a:rPr sz="750" b="1" i="0">
                <a:solidFill>
                  <a:srgbClr val="10A37F"/>
                </a:solidFill>
              </a:rPr>
              <a:t>ORCHESTRATION ENGINE</a:t>
            </a:r>
          </a:p>
        </p:txBody>
      </p:sp>
      <p:sp>
        <p:nvSpPr>
          <p:cNvPr id="32" name="TextBox 31"/>
          <p:cNvSpPr txBox="1"/>
          <p:nvPr/>
        </p:nvSpPr>
        <p:spPr>
          <a:xfrm>
            <a:off x="4526280" y="1664208"/>
            <a:ext cx="3538728" cy="475488"/>
          </a:xfrm>
          <a:prstGeom prst="rect">
            <a:avLst/>
          </a:prstGeom>
          <a:noFill/>
        </p:spPr>
        <p:txBody>
          <a:bodyPr wrap="square">
            <a:spAutoFit/>
          </a:bodyPr>
          <a:lstStyle/>
          <a:p>
            <a:pPr algn="l"/>
            <a:r>
              <a:rPr sz="1700" b="1" i="0">
                <a:solidFill>
                  <a:srgbClr val="FFFFFF"/>
                </a:solidFill>
              </a:rPr>
              <a:t>OpenClaw / GPT-4o</a:t>
            </a:r>
          </a:p>
        </p:txBody>
      </p:sp>
      <p:sp>
        <p:nvSpPr>
          <p:cNvPr id="33" name="TextBox 32"/>
          <p:cNvSpPr txBox="1"/>
          <p:nvPr/>
        </p:nvSpPr>
        <p:spPr>
          <a:xfrm>
            <a:off x="4526280" y="2121408"/>
            <a:ext cx="3538728" cy="274320"/>
          </a:xfrm>
          <a:prstGeom prst="rect">
            <a:avLst/>
          </a:prstGeom>
          <a:noFill/>
        </p:spPr>
        <p:txBody>
          <a:bodyPr wrap="square">
            <a:spAutoFit/>
          </a:bodyPr>
          <a:lstStyle/>
          <a:p>
            <a:pPr algn="l"/>
            <a:r>
              <a:rPr sz="900" b="0" i="0">
                <a:solidFill>
                  <a:srgbClr val="556B82"/>
                </a:solidFill>
              </a:rPr>
              <a:t>OpenAI-Compatible</a:t>
            </a:r>
          </a:p>
        </p:txBody>
      </p:sp>
      <p:sp>
        <p:nvSpPr>
          <p:cNvPr id="34" name="Rectangle 33"/>
          <p:cNvSpPr/>
          <p:nvPr/>
        </p:nvSpPr>
        <p:spPr>
          <a:xfrm>
            <a:off x="4480559" y="2423160"/>
            <a:ext cx="3584447" cy="22860"/>
          </a:xfrm>
          <a:prstGeom prst="rect">
            <a:avLst/>
          </a:prstGeom>
          <a:solidFill>
            <a:srgbClr val="556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526280" y="2487168"/>
            <a:ext cx="3538728" cy="237744"/>
          </a:xfrm>
          <a:prstGeom prst="rect">
            <a:avLst/>
          </a:prstGeom>
          <a:noFill/>
        </p:spPr>
        <p:txBody>
          <a:bodyPr wrap="square">
            <a:spAutoFit/>
          </a:bodyPr>
          <a:lstStyle/>
          <a:p>
            <a:pPr algn="l"/>
            <a:r>
              <a:rPr sz="750" b="1" i="0">
                <a:solidFill>
                  <a:srgbClr val="10A37F"/>
                </a:solidFill>
              </a:rPr>
              <a:t>USE CASES</a:t>
            </a:r>
          </a:p>
        </p:txBody>
      </p:sp>
      <p:sp>
        <p:nvSpPr>
          <p:cNvPr id="36" name="TextBox 35"/>
          <p:cNvSpPr txBox="1"/>
          <p:nvPr/>
        </p:nvSpPr>
        <p:spPr>
          <a:xfrm>
            <a:off x="4526280" y="2761488"/>
            <a:ext cx="3538728" cy="274320"/>
          </a:xfrm>
          <a:prstGeom prst="rect">
            <a:avLst/>
          </a:prstGeom>
          <a:noFill/>
        </p:spPr>
        <p:txBody>
          <a:bodyPr wrap="square">
            <a:spAutoFit/>
          </a:bodyPr>
          <a:lstStyle/>
          <a:p>
            <a:pPr algn="l"/>
            <a:r>
              <a:rPr sz="900" b="0" i="0">
                <a:solidFill>
                  <a:srgbClr val="CCD6E0"/>
                </a:solidFill>
              </a:rPr>
              <a:t>→  Task classification &amp; routing</a:t>
            </a:r>
          </a:p>
        </p:txBody>
      </p:sp>
      <p:sp>
        <p:nvSpPr>
          <p:cNvPr id="37" name="TextBox 36"/>
          <p:cNvSpPr txBox="1"/>
          <p:nvPr/>
        </p:nvSpPr>
        <p:spPr>
          <a:xfrm>
            <a:off x="4526280" y="3054096"/>
            <a:ext cx="3538728" cy="274320"/>
          </a:xfrm>
          <a:prstGeom prst="rect">
            <a:avLst/>
          </a:prstGeom>
          <a:noFill/>
        </p:spPr>
        <p:txBody>
          <a:bodyPr wrap="square">
            <a:spAutoFit/>
          </a:bodyPr>
          <a:lstStyle/>
          <a:p>
            <a:pPr algn="l"/>
            <a:r>
              <a:rPr sz="900" b="0" i="0">
                <a:solidFill>
                  <a:srgbClr val="CCD6E0"/>
                </a:solidFill>
              </a:rPr>
              <a:t>→  Multi-agent workflow control</a:t>
            </a:r>
          </a:p>
        </p:txBody>
      </p:sp>
      <p:sp>
        <p:nvSpPr>
          <p:cNvPr id="38" name="TextBox 37"/>
          <p:cNvSpPr txBox="1"/>
          <p:nvPr/>
        </p:nvSpPr>
        <p:spPr>
          <a:xfrm>
            <a:off x="4526280" y="3346703"/>
            <a:ext cx="3538728" cy="274320"/>
          </a:xfrm>
          <a:prstGeom prst="rect">
            <a:avLst/>
          </a:prstGeom>
          <a:noFill/>
        </p:spPr>
        <p:txBody>
          <a:bodyPr wrap="square">
            <a:spAutoFit/>
          </a:bodyPr>
          <a:lstStyle/>
          <a:p>
            <a:pPr algn="l"/>
            <a:r>
              <a:rPr sz="900" b="0" i="0">
                <a:solidFill>
                  <a:srgbClr val="CCD6E0"/>
                </a:solidFill>
              </a:rPr>
              <a:t>→  Output synthesis &amp; merging</a:t>
            </a:r>
          </a:p>
        </p:txBody>
      </p:sp>
      <p:sp>
        <p:nvSpPr>
          <p:cNvPr id="39" name="TextBox 38"/>
          <p:cNvSpPr txBox="1"/>
          <p:nvPr/>
        </p:nvSpPr>
        <p:spPr>
          <a:xfrm>
            <a:off x="4526280" y="3639311"/>
            <a:ext cx="3538728" cy="274320"/>
          </a:xfrm>
          <a:prstGeom prst="rect">
            <a:avLst/>
          </a:prstGeom>
          <a:noFill/>
        </p:spPr>
        <p:txBody>
          <a:bodyPr wrap="square">
            <a:spAutoFit/>
          </a:bodyPr>
          <a:lstStyle/>
          <a:p>
            <a:pPr algn="l"/>
            <a:r>
              <a:rPr sz="900" b="0" i="0">
                <a:solidFill>
                  <a:srgbClr val="CCD6E0"/>
                </a:solidFill>
              </a:rPr>
              <a:t>→  Structured data extraction</a:t>
            </a:r>
          </a:p>
        </p:txBody>
      </p:sp>
      <p:sp>
        <p:nvSpPr>
          <p:cNvPr id="40" name="TextBox 39"/>
          <p:cNvSpPr txBox="1"/>
          <p:nvPr/>
        </p:nvSpPr>
        <p:spPr>
          <a:xfrm>
            <a:off x="4526280" y="3931920"/>
            <a:ext cx="3538728" cy="274320"/>
          </a:xfrm>
          <a:prstGeom prst="rect">
            <a:avLst/>
          </a:prstGeom>
          <a:noFill/>
        </p:spPr>
        <p:txBody>
          <a:bodyPr wrap="square">
            <a:spAutoFit/>
          </a:bodyPr>
          <a:lstStyle/>
          <a:p>
            <a:pPr algn="l"/>
            <a:r>
              <a:rPr sz="900" b="0" i="0">
                <a:solidFill>
                  <a:srgbClr val="CCD6E0"/>
                </a:solidFill>
              </a:rPr>
              <a:t>→  LangGraph state machine</a:t>
            </a:r>
          </a:p>
        </p:txBody>
      </p:sp>
      <p:sp>
        <p:nvSpPr>
          <p:cNvPr id="41" name="TextBox 40"/>
          <p:cNvSpPr txBox="1"/>
          <p:nvPr/>
        </p:nvSpPr>
        <p:spPr>
          <a:xfrm>
            <a:off x="4526280" y="4224528"/>
            <a:ext cx="3538728" cy="274320"/>
          </a:xfrm>
          <a:prstGeom prst="rect">
            <a:avLst/>
          </a:prstGeom>
          <a:noFill/>
        </p:spPr>
        <p:txBody>
          <a:bodyPr wrap="square">
            <a:spAutoFit/>
          </a:bodyPr>
          <a:lstStyle/>
          <a:p>
            <a:pPr algn="l"/>
            <a:r>
              <a:rPr sz="900" b="0" i="0">
                <a:solidFill>
                  <a:srgbClr val="CCD6E0"/>
                </a:solidFill>
              </a:rPr>
              <a:t>→  Human-in-the-loop gates</a:t>
            </a:r>
          </a:p>
        </p:txBody>
      </p:sp>
      <p:sp>
        <p:nvSpPr>
          <p:cNvPr id="42" name="Rectangle 41"/>
          <p:cNvSpPr/>
          <p:nvPr/>
        </p:nvSpPr>
        <p:spPr>
          <a:xfrm>
            <a:off x="4480559" y="4572000"/>
            <a:ext cx="3584447" cy="22860"/>
          </a:xfrm>
          <a:prstGeom prst="rect">
            <a:avLst/>
          </a:prstGeom>
          <a:solidFill>
            <a:srgbClr val="556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526280" y="4626864"/>
            <a:ext cx="3538728" cy="237744"/>
          </a:xfrm>
          <a:prstGeom prst="rect">
            <a:avLst/>
          </a:prstGeom>
          <a:noFill/>
        </p:spPr>
        <p:txBody>
          <a:bodyPr wrap="square">
            <a:spAutoFit/>
          </a:bodyPr>
          <a:lstStyle/>
          <a:p>
            <a:pPr algn="l"/>
            <a:r>
              <a:rPr sz="750" b="1" i="0">
                <a:solidFill>
                  <a:srgbClr val="10A37F"/>
                </a:solidFill>
              </a:rPr>
              <a:t>CAPABILITIES</a:t>
            </a:r>
          </a:p>
        </p:txBody>
      </p:sp>
      <p:sp>
        <p:nvSpPr>
          <p:cNvPr id="44" name="Rounded Rectangle 43"/>
          <p:cNvSpPr/>
          <p:nvPr/>
        </p:nvSpPr>
        <p:spPr>
          <a:xfrm>
            <a:off x="4526280" y="4901184"/>
            <a:ext cx="1673352" cy="274320"/>
          </a:xfrm>
          <a:prstGeom prst="roundRect">
            <a:avLst>
              <a:gd name="adj" fmla="val 15000"/>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526280" y="4910328"/>
            <a:ext cx="1673352" cy="256031"/>
          </a:xfrm>
          <a:prstGeom prst="rect">
            <a:avLst/>
          </a:prstGeom>
          <a:noFill/>
        </p:spPr>
        <p:txBody>
          <a:bodyPr wrap="square">
            <a:spAutoFit/>
          </a:bodyPr>
          <a:lstStyle/>
          <a:p>
            <a:pPr algn="ctr"/>
            <a:r>
              <a:rPr sz="700" b="1" i="0">
                <a:solidFill>
                  <a:srgbClr val="10A37F"/>
                </a:solidFill>
              </a:rPr>
              <a:t>Function Calling</a:t>
            </a:r>
          </a:p>
        </p:txBody>
      </p:sp>
      <p:sp>
        <p:nvSpPr>
          <p:cNvPr id="46" name="Rounded Rectangle 45"/>
          <p:cNvSpPr/>
          <p:nvPr/>
        </p:nvSpPr>
        <p:spPr>
          <a:xfrm>
            <a:off x="6291072" y="4901184"/>
            <a:ext cx="1673352" cy="274320"/>
          </a:xfrm>
          <a:prstGeom prst="roundRect">
            <a:avLst>
              <a:gd name="adj" fmla="val 15000"/>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291072" y="4910328"/>
            <a:ext cx="1673352" cy="256031"/>
          </a:xfrm>
          <a:prstGeom prst="rect">
            <a:avLst/>
          </a:prstGeom>
          <a:noFill/>
        </p:spPr>
        <p:txBody>
          <a:bodyPr wrap="square">
            <a:spAutoFit/>
          </a:bodyPr>
          <a:lstStyle/>
          <a:p>
            <a:pPr algn="ctr"/>
            <a:r>
              <a:rPr sz="700" b="1" i="0">
                <a:solidFill>
                  <a:srgbClr val="10A37F"/>
                </a:solidFill>
              </a:rPr>
              <a:t>JSON Mode</a:t>
            </a:r>
          </a:p>
        </p:txBody>
      </p:sp>
      <p:sp>
        <p:nvSpPr>
          <p:cNvPr id="48" name="Rounded Rectangle 47"/>
          <p:cNvSpPr/>
          <p:nvPr/>
        </p:nvSpPr>
        <p:spPr>
          <a:xfrm>
            <a:off x="4526280" y="5248656"/>
            <a:ext cx="1673352" cy="274320"/>
          </a:xfrm>
          <a:prstGeom prst="roundRect">
            <a:avLst>
              <a:gd name="adj" fmla="val 15000"/>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526280" y="5257800"/>
            <a:ext cx="1673352" cy="256031"/>
          </a:xfrm>
          <a:prstGeom prst="rect">
            <a:avLst/>
          </a:prstGeom>
          <a:noFill/>
        </p:spPr>
        <p:txBody>
          <a:bodyPr wrap="square">
            <a:spAutoFit/>
          </a:bodyPr>
          <a:lstStyle/>
          <a:p>
            <a:pPr algn="ctr"/>
            <a:r>
              <a:rPr sz="700" b="1" i="0">
                <a:solidFill>
                  <a:srgbClr val="10A37F"/>
                </a:solidFill>
              </a:rPr>
              <a:t>Swappable Backend</a:t>
            </a:r>
          </a:p>
        </p:txBody>
      </p:sp>
      <p:sp>
        <p:nvSpPr>
          <p:cNvPr id="50" name="Rounded Rectangle 49"/>
          <p:cNvSpPr/>
          <p:nvPr/>
        </p:nvSpPr>
        <p:spPr>
          <a:xfrm>
            <a:off x="6291072" y="5248656"/>
            <a:ext cx="1673352" cy="274320"/>
          </a:xfrm>
          <a:prstGeom prst="roundRect">
            <a:avLst>
              <a:gd name="adj" fmla="val 15000"/>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291072" y="5257800"/>
            <a:ext cx="1673352" cy="256031"/>
          </a:xfrm>
          <a:prstGeom prst="rect">
            <a:avLst/>
          </a:prstGeom>
          <a:noFill/>
        </p:spPr>
        <p:txBody>
          <a:bodyPr wrap="square">
            <a:spAutoFit/>
          </a:bodyPr>
          <a:lstStyle/>
          <a:p>
            <a:pPr algn="ctr"/>
            <a:r>
              <a:rPr sz="700" b="1" i="0">
                <a:solidFill>
                  <a:srgbClr val="10A37F"/>
                </a:solidFill>
              </a:rPr>
              <a:t>Self-Hosted</a:t>
            </a:r>
          </a:p>
        </p:txBody>
      </p:sp>
      <p:sp>
        <p:nvSpPr>
          <p:cNvPr id="52" name="Rounded Rectangle 51"/>
          <p:cNvSpPr/>
          <p:nvPr/>
        </p:nvSpPr>
        <p:spPr>
          <a:xfrm>
            <a:off x="8458200" y="1298448"/>
            <a:ext cx="3767328" cy="5166360"/>
          </a:xfrm>
          <a:prstGeom prst="roundRect">
            <a:avLst>
              <a:gd name="adj" fmla="val 8000"/>
            </a:avLst>
          </a:prstGeom>
          <a:solidFill>
            <a:srgbClr val="162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8458200" y="1298448"/>
            <a:ext cx="3767328" cy="54864"/>
          </a:xfrm>
          <a:prstGeom prst="rect">
            <a:avLst/>
          </a:prstGeom>
          <a:solidFill>
            <a:srgbClr val="FF6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595360" y="1389888"/>
            <a:ext cx="3538728" cy="274320"/>
          </a:xfrm>
          <a:prstGeom prst="rect">
            <a:avLst/>
          </a:prstGeom>
          <a:noFill/>
        </p:spPr>
        <p:txBody>
          <a:bodyPr wrap="square">
            <a:spAutoFit/>
          </a:bodyPr>
          <a:lstStyle/>
          <a:p>
            <a:pPr algn="l"/>
            <a:r>
              <a:rPr sz="750" b="1" i="0">
                <a:solidFill>
                  <a:srgbClr val="FF6100"/>
                </a:solidFill>
              </a:rPr>
              <a:t>CODE &amp; DATA ENGINE</a:t>
            </a:r>
          </a:p>
        </p:txBody>
      </p:sp>
      <p:sp>
        <p:nvSpPr>
          <p:cNvPr id="55" name="TextBox 54"/>
          <p:cNvSpPr txBox="1"/>
          <p:nvPr/>
        </p:nvSpPr>
        <p:spPr>
          <a:xfrm>
            <a:off x="8595360" y="1664208"/>
            <a:ext cx="3538728" cy="475488"/>
          </a:xfrm>
          <a:prstGeom prst="rect">
            <a:avLst/>
          </a:prstGeom>
          <a:noFill/>
        </p:spPr>
        <p:txBody>
          <a:bodyPr wrap="square">
            <a:spAutoFit/>
          </a:bodyPr>
          <a:lstStyle/>
          <a:p>
            <a:pPr algn="l"/>
            <a:r>
              <a:rPr sz="1700" b="1" i="0">
                <a:solidFill>
                  <a:srgbClr val="FFFFFF"/>
                </a:solidFill>
              </a:rPr>
              <a:t>Qwen 2.5</a:t>
            </a:r>
          </a:p>
        </p:txBody>
      </p:sp>
      <p:sp>
        <p:nvSpPr>
          <p:cNvPr id="56" name="TextBox 55"/>
          <p:cNvSpPr txBox="1"/>
          <p:nvPr/>
        </p:nvSpPr>
        <p:spPr>
          <a:xfrm>
            <a:off x="8595360" y="2121408"/>
            <a:ext cx="3538728" cy="274320"/>
          </a:xfrm>
          <a:prstGeom prst="rect">
            <a:avLst/>
          </a:prstGeom>
          <a:noFill/>
        </p:spPr>
        <p:txBody>
          <a:bodyPr wrap="square">
            <a:spAutoFit/>
          </a:bodyPr>
          <a:lstStyle/>
          <a:p>
            <a:pPr algn="l"/>
            <a:r>
              <a:rPr sz="900" b="0" i="0">
                <a:solidFill>
                  <a:srgbClr val="556B82"/>
                </a:solidFill>
              </a:rPr>
              <a:t>Alibaba DashScope</a:t>
            </a:r>
          </a:p>
        </p:txBody>
      </p:sp>
      <p:sp>
        <p:nvSpPr>
          <p:cNvPr id="57" name="Rectangle 56"/>
          <p:cNvSpPr/>
          <p:nvPr/>
        </p:nvSpPr>
        <p:spPr>
          <a:xfrm>
            <a:off x="8549640" y="2423160"/>
            <a:ext cx="3584448" cy="22860"/>
          </a:xfrm>
          <a:prstGeom prst="rect">
            <a:avLst/>
          </a:prstGeom>
          <a:solidFill>
            <a:srgbClr val="556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595360" y="2487168"/>
            <a:ext cx="3538728" cy="237744"/>
          </a:xfrm>
          <a:prstGeom prst="rect">
            <a:avLst/>
          </a:prstGeom>
          <a:noFill/>
        </p:spPr>
        <p:txBody>
          <a:bodyPr wrap="square">
            <a:spAutoFit/>
          </a:bodyPr>
          <a:lstStyle/>
          <a:p>
            <a:pPr algn="l"/>
            <a:r>
              <a:rPr sz="750" b="1" i="0">
                <a:solidFill>
                  <a:srgbClr val="FF6100"/>
                </a:solidFill>
              </a:rPr>
              <a:t>USE CASES</a:t>
            </a:r>
          </a:p>
        </p:txBody>
      </p:sp>
      <p:sp>
        <p:nvSpPr>
          <p:cNvPr id="59" name="TextBox 58"/>
          <p:cNvSpPr txBox="1"/>
          <p:nvPr/>
        </p:nvSpPr>
        <p:spPr>
          <a:xfrm>
            <a:off x="8595360" y="2761488"/>
            <a:ext cx="3538728" cy="274320"/>
          </a:xfrm>
          <a:prstGeom prst="rect">
            <a:avLst/>
          </a:prstGeom>
          <a:noFill/>
        </p:spPr>
        <p:txBody>
          <a:bodyPr wrap="square">
            <a:spAutoFit/>
          </a:bodyPr>
          <a:lstStyle/>
          <a:p>
            <a:pPr algn="l"/>
            <a:r>
              <a:rPr sz="900" b="0" i="0">
                <a:solidFill>
                  <a:srgbClr val="CCD6E0"/>
                </a:solidFill>
              </a:rPr>
              <a:t>→  PySpark / Python generation</a:t>
            </a:r>
          </a:p>
        </p:txBody>
      </p:sp>
      <p:sp>
        <p:nvSpPr>
          <p:cNvPr id="60" name="TextBox 59"/>
          <p:cNvSpPr txBox="1"/>
          <p:nvPr/>
        </p:nvSpPr>
        <p:spPr>
          <a:xfrm>
            <a:off x="8595360" y="3054096"/>
            <a:ext cx="3538728" cy="274320"/>
          </a:xfrm>
          <a:prstGeom prst="rect">
            <a:avLst/>
          </a:prstGeom>
          <a:noFill/>
        </p:spPr>
        <p:txBody>
          <a:bodyPr wrap="square">
            <a:spAutoFit/>
          </a:bodyPr>
          <a:lstStyle/>
          <a:p>
            <a:pPr algn="l"/>
            <a:r>
              <a:rPr sz="900" b="0" i="0">
                <a:solidFill>
                  <a:srgbClr val="CCD6E0"/>
                </a:solidFill>
              </a:rPr>
              <a:t>→  Databricks pipeline design</a:t>
            </a:r>
          </a:p>
        </p:txBody>
      </p:sp>
      <p:sp>
        <p:nvSpPr>
          <p:cNvPr id="61" name="TextBox 60"/>
          <p:cNvSpPr txBox="1"/>
          <p:nvPr/>
        </p:nvSpPr>
        <p:spPr>
          <a:xfrm>
            <a:off x="8595360" y="3346703"/>
            <a:ext cx="3538728" cy="274320"/>
          </a:xfrm>
          <a:prstGeom prst="rect">
            <a:avLst/>
          </a:prstGeom>
          <a:noFill/>
        </p:spPr>
        <p:txBody>
          <a:bodyPr wrap="square">
            <a:spAutoFit/>
          </a:bodyPr>
          <a:lstStyle/>
          <a:p>
            <a:pPr algn="l"/>
            <a:r>
              <a:rPr sz="900" b="0" i="0">
                <a:solidFill>
                  <a:srgbClr val="CCD6E0"/>
                </a:solidFill>
              </a:rPr>
              <a:t>→  Multilingual report writing</a:t>
            </a:r>
          </a:p>
        </p:txBody>
      </p:sp>
      <p:sp>
        <p:nvSpPr>
          <p:cNvPr id="62" name="TextBox 61"/>
          <p:cNvSpPr txBox="1"/>
          <p:nvPr/>
        </p:nvSpPr>
        <p:spPr>
          <a:xfrm>
            <a:off x="8595360" y="3639311"/>
            <a:ext cx="3538728" cy="274320"/>
          </a:xfrm>
          <a:prstGeom prst="rect">
            <a:avLst/>
          </a:prstGeom>
          <a:noFill/>
        </p:spPr>
        <p:txBody>
          <a:bodyPr wrap="square">
            <a:spAutoFit/>
          </a:bodyPr>
          <a:lstStyle/>
          <a:p>
            <a:pPr algn="l"/>
            <a:r>
              <a:rPr sz="900" b="0" i="0">
                <a:solidFill>
                  <a:srgbClr val="CCD6E0"/>
                </a:solidFill>
              </a:rPr>
              <a:t>→  Financial data extraction</a:t>
            </a:r>
          </a:p>
        </p:txBody>
      </p:sp>
      <p:sp>
        <p:nvSpPr>
          <p:cNvPr id="63" name="TextBox 62"/>
          <p:cNvSpPr txBox="1"/>
          <p:nvPr/>
        </p:nvSpPr>
        <p:spPr>
          <a:xfrm>
            <a:off x="8595360" y="3931920"/>
            <a:ext cx="3538728" cy="274320"/>
          </a:xfrm>
          <a:prstGeom prst="rect">
            <a:avLst/>
          </a:prstGeom>
          <a:noFill/>
        </p:spPr>
        <p:txBody>
          <a:bodyPr wrap="square">
            <a:spAutoFit/>
          </a:bodyPr>
          <a:lstStyle/>
          <a:p>
            <a:pPr algn="l"/>
            <a:r>
              <a:rPr sz="900" b="0" i="0">
                <a:solidFill>
                  <a:srgbClr val="CCD6E0"/>
                </a:solidFill>
              </a:rPr>
              <a:t>→  Delta Lake schema design</a:t>
            </a:r>
          </a:p>
        </p:txBody>
      </p:sp>
      <p:sp>
        <p:nvSpPr>
          <p:cNvPr id="64" name="TextBox 63"/>
          <p:cNvSpPr txBox="1"/>
          <p:nvPr/>
        </p:nvSpPr>
        <p:spPr>
          <a:xfrm>
            <a:off x="8595360" y="4224528"/>
            <a:ext cx="3538728" cy="274320"/>
          </a:xfrm>
          <a:prstGeom prst="rect">
            <a:avLst/>
          </a:prstGeom>
          <a:noFill/>
        </p:spPr>
        <p:txBody>
          <a:bodyPr wrap="square">
            <a:spAutoFit/>
          </a:bodyPr>
          <a:lstStyle/>
          <a:p>
            <a:pPr algn="l"/>
            <a:r>
              <a:rPr sz="900" b="0" i="0">
                <a:solidFill>
                  <a:srgbClr val="CCD6E0"/>
                </a:solidFill>
              </a:rPr>
              <a:t>→  SQL analytics queries</a:t>
            </a:r>
          </a:p>
        </p:txBody>
      </p:sp>
      <p:sp>
        <p:nvSpPr>
          <p:cNvPr id="65" name="Rectangle 64"/>
          <p:cNvSpPr/>
          <p:nvPr/>
        </p:nvSpPr>
        <p:spPr>
          <a:xfrm>
            <a:off x="8549640" y="4572000"/>
            <a:ext cx="3584448" cy="22860"/>
          </a:xfrm>
          <a:prstGeom prst="rect">
            <a:avLst/>
          </a:prstGeom>
          <a:solidFill>
            <a:srgbClr val="556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8595360" y="4626864"/>
            <a:ext cx="3538728" cy="237744"/>
          </a:xfrm>
          <a:prstGeom prst="rect">
            <a:avLst/>
          </a:prstGeom>
          <a:noFill/>
        </p:spPr>
        <p:txBody>
          <a:bodyPr wrap="square">
            <a:spAutoFit/>
          </a:bodyPr>
          <a:lstStyle/>
          <a:p>
            <a:pPr algn="l"/>
            <a:r>
              <a:rPr sz="750" b="1" i="0">
                <a:solidFill>
                  <a:srgbClr val="FF6100"/>
                </a:solidFill>
              </a:rPr>
              <a:t>CAPABILITIES</a:t>
            </a:r>
          </a:p>
        </p:txBody>
      </p:sp>
      <p:sp>
        <p:nvSpPr>
          <p:cNvPr id="67" name="Rounded Rectangle 66"/>
          <p:cNvSpPr/>
          <p:nvPr/>
        </p:nvSpPr>
        <p:spPr>
          <a:xfrm>
            <a:off x="8595360" y="4901184"/>
            <a:ext cx="1673352" cy="274320"/>
          </a:xfrm>
          <a:prstGeom prst="roundRect">
            <a:avLst>
              <a:gd name="adj" fmla="val 15000"/>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8595360" y="4910328"/>
            <a:ext cx="1673352" cy="256031"/>
          </a:xfrm>
          <a:prstGeom prst="rect">
            <a:avLst/>
          </a:prstGeom>
          <a:noFill/>
        </p:spPr>
        <p:txBody>
          <a:bodyPr wrap="square">
            <a:spAutoFit/>
          </a:bodyPr>
          <a:lstStyle/>
          <a:p>
            <a:pPr algn="ctr"/>
            <a:r>
              <a:rPr sz="700" b="1" i="0">
                <a:solidFill>
                  <a:srgbClr val="FF6100"/>
                </a:solidFill>
              </a:rPr>
              <a:t>OpenAI-Compatible API</a:t>
            </a:r>
          </a:p>
        </p:txBody>
      </p:sp>
      <p:sp>
        <p:nvSpPr>
          <p:cNvPr id="69" name="Rounded Rectangle 68"/>
          <p:cNvSpPr/>
          <p:nvPr/>
        </p:nvSpPr>
        <p:spPr>
          <a:xfrm>
            <a:off x="10360152" y="4901184"/>
            <a:ext cx="1673352" cy="274320"/>
          </a:xfrm>
          <a:prstGeom prst="roundRect">
            <a:avLst>
              <a:gd name="adj" fmla="val 15000"/>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0360152" y="4910328"/>
            <a:ext cx="1673352" cy="256031"/>
          </a:xfrm>
          <a:prstGeom prst="rect">
            <a:avLst/>
          </a:prstGeom>
          <a:noFill/>
        </p:spPr>
        <p:txBody>
          <a:bodyPr wrap="square">
            <a:spAutoFit/>
          </a:bodyPr>
          <a:lstStyle/>
          <a:p>
            <a:pPr algn="ctr"/>
            <a:r>
              <a:rPr sz="700" b="1" i="0">
                <a:solidFill>
                  <a:srgbClr val="FF6100"/>
                </a:solidFill>
              </a:rPr>
              <a:t>Long Context</a:t>
            </a:r>
          </a:p>
        </p:txBody>
      </p:sp>
      <p:sp>
        <p:nvSpPr>
          <p:cNvPr id="71" name="Rounded Rectangle 70"/>
          <p:cNvSpPr/>
          <p:nvPr/>
        </p:nvSpPr>
        <p:spPr>
          <a:xfrm>
            <a:off x="8595360" y="5248656"/>
            <a:ext cx="1673352" cy="274320"/>
          </a:xfrm>
          <a:prstGeom prst="roundRect">
            <a:avLst>
              <a:gd name="adj" fmla="val 15000"/>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8595360" y="5257800"/>
            <a:ext cx="1673352" cy="256031"/>
          </a:xfrm>
          <a:prstGeom prst="rect">
            <a:avLst/>
          </a:prstGeom>
          <a:noFill/>
        </p:spPr>
        <p:txBody>
          <a:bodyPr wrap="square">
            <a:spAutoFit/>
          </a:bodyPr>
          <a:lstStyle/>
          <a:p>
            <a:pPr algn="ctr"/>
            <a:r>
              <a:rPr sz="700" b="1" i="0">
                <a:solidFill>
                  <a:srgbClr val="FF6100"/>
                </a:solidFill>
              </a:rPr>
              <a:t>Multilingual</a:t>
            </a:r>
          </a:p>
        </p:txBody>
      </p:sp>
      <p:sp>
        <p:nvSpPr>
          <p:cNvPr id="73" name="Rounded Rectangle 72"/>
          <p:cNvSpPr/>
          <p:nvPr/>
        </p:nvSpPr>
        <p:spPr>
          <a:xfrm>
            <a:off x="10360152" y="5248656"/>
            <a:ext cx="1673352" cy="274320"/>
          </a:xfrm>
          <a:prstGeom prst="roundRect">
            <a:avLst>
              <a:gd name="adj" fmla="val 15000"/>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10360152" y="5257800"/>
            <a:ext cx="1673352" cy="256031"/>
          </a:xfrm>
          <a:prstGeom prst="rect">
            <a:avLst/>
          </a:prstGeom>
          <a:noFill/>
        </p:spPr>
        <p:txBody>
          <a:bodyPr wrap="square">
            <a:spAutoFit/>
          </a:bodyPr>
          <a:lstStyle/>
          <a:p>
            <a:pPr algn="ctr"/>
            <a:r>
              <a:rPr sz="700" b="1" i="0">
                <a:solidFill>
                  <a:srgbClr val="FF6100"/>
                </a:solidFill>
              </a:rPr>
              <a:t>Code Expert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D4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4572000" cy="347472"/>
          </a:xfrm>
          <a:prstGeom prst="rect">
            <a:avLst/>
          </a:prstGeom>
          <a:noFill/>
        </p:spPr>
        <p:txBody>
          <a:bodyPr wrap="square">
            <a:spAutoFit/>
          </a:bodyPr>
          <a:lstStyle/>
          <a:p>
            <a:pPr algn="l"/>
            <a:r>
              <a:rPr sz="1000" b="1" i="0">
                <a:solidFill>
                  <a:srgbClr val="00D48A"/>
                </a:solidFill>
              </a:rPr>
              <a:t>THE AGENT NETWORK</a:t>
            </a:r>
          </a:p>
        </p:txBody>
      </p:sp>
      <p:sp>
        <p:nvSpPr>
          <p:cNvPr id="4" name="TextBox 3"/>
          <p:cNvSpPr txBox="1"/>
          <p:nvPr/>
        </p:nvSpPr>
        <p:spPr>
          <a:xfrm>
            <a:off x="320040" y="475488"/>
            <a:ext cx="11430000" cy="658368"/>
          </a:xfrm>
          <a:prstGeom prst="rect">
            <a:avLst/>
          </a:prstGeom>
          <a:noFill/>
        </p:spPr>
        <p:txBody>
          <a:bodyPr wrap="square">
            <a:spAutoFit/>
          </a:bodyPr>
          <a:lstStyle/>
          <a:p>
            <a:pPr algn="l"/>
            <a:r>
              <a:rPr sz="2600" b="1" i="0">
                <a:solidFill>
                  <a:srgbClr val="FFFFFF"/>
                </a:solidFill>
              </a:rPr>
              <a:t>Rudra + 10 Specialist Agents — All Coordinated by OpenClaw</a:t>
            </a:r>
          </a:p>
        </p:txBody>
      </p:sp>
      <p:sp>
        <p:nvSpPr>
          <p:cNvPr id="5" name="Rectangle 4"/>
          <p:cNvSpPr/>
          <p:nvPr/>
        </p:nvSpPr>
        <p:spPr>
          <a:xfrm>
            <a:off x="320040" y="1170432"/>
            <a:ext cx="11411712" cy="22860"/>
          </a:xfrm>
          <a:prstGeom prst="rect">
            <a:avLst/>
          </a:prstGeom>
          <a:solidFill>
            <a:srgbClr val="00D4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846320" y="1417320"/>
            <a:ext cx="2468880" cy="822960"/>
          </a:xfrm>
          <a:prstGeom prst="roundRect">
            <a:avLst>
              <a:gd name="adj" fmla="val 8000"/>
            </a:avLst>
          </a:prstGeom>
          <a:solidFill>
            <a:srgbClr val="1B6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846320" y="1444752"/>
            <a:ext cx="2468880" cy="777240"/>
          </a:xfrm>
          <a:prstGeom prst="rect">
            <a:avLst/>
          </a:prstGeom>
          <a:noFill/>
        </p:spPr>
        <p:txBody>
          <a:bodyPr wrap="square">
            <a:spAutoFit/>
          </a:bodyPr>
          <a:lstStyle/>
          <a:p>
            <a:pPr algn="ctr"/>
            <a:r>
              <a:rPr sz="1200" b="1" i="0">
                <a:solidFill>
                  <a:srgbClr val="FFFFFF"/>
                </a:solidFill>
              </a:rPr>
              <a:t>RUDRA
Principal Agent</a:t>
            </a:r>
          </a:p>
        </p:txBody>
      </p:sp>
      <p:sp>
        <p:nvSpPr>
          <p:cNvPr id="8" name="Rounded Rectangle 7"/>
          <p:cNvSpPr/>
          <p:nvPr/>
        </p:nvSpPr>
        <p:spPr>
          <a:xfrm>
            <a:off x="5074920" y="2377440"/>
            <a:ext cx="2011680" cy="658368"/>
          </a:xfrm>
          <a:prstGeom prst="roundRect">
            <a:avLst>
              <a:gd name="adj" fmla="val 8000"/>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74920" y="2395728"/>
            <a:ext cx="2011680" cy="621792"/>
          </a:xfrm>
          <a:prstGeom prst="rect">
            <a:avLst/>
          </a:prstGeom>
          <a:noFill/>
        </p:spPr>
        <p:txBody>
          <a:bodyPr wrap="square">
            <a:spAutoFit/>
          </a:bodyPr>
          <a:lstStyle/>
          <a:p>
            <a:pPr algn="ctr"/>
            <a:r>
              <a:rPr sz="1000" b="1" i="0">
                <a:solidFill>
                  <a:srgbClr val="FFFFFF"/>
                </a:solidFill>
              </a:rPr>
              <a:t>OpenClaw
Orchestrator</a:t>
            </a:r>
          </a:p>
        </p:txBody>
      </p:sp>
      <p:sp>
        <p:nvSpPr>
          <p:cNvPr id="10" name="Rounded Rectangle 9"/>
          <p:cNvSpPr/>
          <p:nvPr/>
        </p:nvSpPr>
        <p:spPr>
          <a:xfrm>
            <a:off x="228600" y="1280160"/>
            <a:ext cx="1664208" cy="1170432"/>
          </a:xfrm>
          <a:prstGeom prst="roundRect">
            <a:avLst>
              <a:gd name="adj" fmla="val 8000"/>
            </a:avLst>
          </a:prstGeom>
          <a:solidFill>
            <a:srgbClr val="162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28600" y="1280160"/>
            <a:ext cx="1664208" cy="36576"/>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28600" y="1353312"/>
            <a:ext cx="1664208" cy="1024128"/>
          </a:xfrm>
          <a:prstGeom prst="rect">
            <a:avLst/>
          </a:prstGeom>
          <a:noFill/>
        </p:spPr>
        <p:txBody>
          <a:bodyPr wrap="square">
            <a:spAutoFit/>
          </a:bodyPr>
          <a:lstStyle/>
          <a:p>
            <a:pPr algn="ctr"/>
            <a:r>
              <a:rPr sz="900" b="1" i="0">
                <a:solidFill>
                  <a:srgbClr val="00C2FF"/>
                </a:solidFill>
              </a:rPr>
              <a:t>Accounting
Policy</a:t>
            </a:r>
          </a:p>
        </p:txBody>
      </p:sp>
      <p:sp>
        <p:nvSpPr>
          <p:cNvPr id="13" name="Rounded Rectangle 12"/>
          <p:cNvSpPr/>
          <p:nvPr/>
        </p:nvSpPr>
        <p:spPr>
          <a:xfrm>
            <a:off x="228600" y="2743200"/>
            <a:ext cx="1664208" cy="1170432"/>
          </a:xfrm>
          <a:prstGeom prst="roundRect">
            <a:avLst>
              <a:gd name="adj" fmla="val 8000"/>
            </a:avLst>
          </a:prstGeom>
          <a:solidFill>
            <a:srgbClr val="162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28600" y="2743200"/>
            <a:ext cx="1664208" cy="36576"/>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28600" y="2816352"/>
            <a:ext cx="1664208" cy="1024128"/>
          </a:xfrm>
          <a:prstGeom prst="rect">
            <a:avLst/>
          </a:prstGeom>
          <a:noFill/>
        </p:spPr>
        <p:txBody>
          <a:bodyPr wrap="square">
            <a:spAutoFit/>
          </a:bodyPr>
          <a:lstStyle/>
          <a:p>
            <a:pPr algn="ctr"/>
            <a:r>
              <a:rPr sz="900" b="1" i="0">
                <a:solidFill>
                  <a:srgbClr val="00C2FF"/>
                </a:solidFill>
              </a:rPr>
              <a:t>Revenue
Recognition</a:t>
            </a:r>
          </a:p>
        </p:txBody>
      </p:sp>
      <p:sp>
        <p:nvSpPr>
          <p:cNvPr id="16" name="Rounded Rectangle 15"/>
          <p:cNvSpPr/>
          <p:nvPr/>
        </p:nvSpPr>
        <p:spPr>
          <a:xfrm>
            <a:off x="228600" y="4206240"/>
            <a:ext cx="1664208" cy="1170432"/>
          </a:xfrm>
          <a:prstGeom prst="roundRect">
            <a:avLst>
              <a:gd name="adj" fmla="val 8000"/>
            </a:avLst>
          </a:prstGeom>
          <a:solidFill>
            <a:srgbClr val="162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28600" y="4206240"/>
            <a:ext cx="1664208" cy="36576"/>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28600" y="4279392"/>
            <a:ext cx="1664208" cy="1024128"/>
          </a:xfrm>
          <a:prstGeom prst="rect">
            <a:avLst/>
          </a:prstGeom>
          <a:noFill/>
        </p:spPr>
        <p:txBody>
          <a:bodyPr wrap="square">
            <a:spAutoFit/>
          </a:bodyPr>
          <a:lstStyle/>
          <a:p>
            <a:pPr algn="ctr"/>
            <a:r>
              <a:rPr sz="900" b="1" i="0">
                <a:solidFill>
                  <a:srgbClr val="00C2FF"/>
                </a:solidFill>
              </a:rPr>
              <a:t>Lease
Accounting</a:t>
            </a:r>
          </a:p>
        </p:txBody>
      </p:sp>
      <p:sp>
        <p:nvSpPr>
          <p:cNvPr id="19" name="Rounded Rectangle 18"/>
          <p:cNvSpPr/>
          <p:nvPr/>
        </p:nvSpPr>
        <p:spPr>
          <a:xfrm>
            <a:off x="2011680" y="1280160"/>
            <a:ext cx="1664208" cy="1170432"/>
          </a:xfrm>
          <a:prstGeom prst="roundRect">
            <a:avLst>
              <a:gd name="adj" fmla="val 8000"/>
            </a:avLst>
          </a:prstGeom>
          <a:solidFill>
            <a:srgbClr val="162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011680" y="1280160"/>
            <a:ext cx="1664208" cy="36576"/>
          </a:xfrm>
          <a:prstGeom prst="rect">
            <a:avLst/>
          </a:prstGeom>
          <a:solidFill>
            <a:srgbClr val="1B6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011680" y="1353312"/>
            <a:ext cx="1664208" cy="1024128"/>
          </a:xfrm>
          <a:prstGeom prst="rect">
            <a:avLst/>
          </a:prstGeom>
          <a:noFill/>
        </p:spPr>
        <p:txBody>
          <a:bodyPr wrap="square">
            <a:spAutoFit/>
          </a:bodyPr>
          <a:lstStyle/>
          <a:p>
            <a:pPr algn="ctr"/>
            <a:r>
              <a:rPr sz="900" b="1" i="0">
                <a:solidFill>
                  <a:srgbClr val="1B6CA8"/>
                </a:solidFill>
              </a:rPr>
              <a:t>Tax
Accounting</a:t>
            </a:r>
          </a:p>
        </p:txBody>
      </p:sp>
      <p:sp>
        <p:nvSpPr>
          <p:cNvPr id="22" name="Rounded Rectangle 21"/>
          <p:cNvSpPr/>
          <p:nvPr/>
        </p:nvSpPr>
        <p:spPr>
          <a:xfrm>
            <a:off x="2011680" y="2743200"/>
            <a:ext cx="1664208" cy="1170432"/>
          </a:xfrm>
          <a:prstGeom prst="roundRect">
            <a:avLst>
              <a:gd name="adj" fmla="val 8000"/>
            </a:avLst>
          </a:prstGeom>
          <a:solidFill>
            <a:srgbClr val="162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011680" y="2743200"/>
            <a:ext cx="1664208" cy="36576"/>
          </a:xfrm>
          <a:prstGeom prst="rect">
            <a:avLst/>
          </a:prstGeom>
          <a:solidFill>
            <a:srgbClr val="1B6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011680" y="2816352"/>
            <a:ext cx="1664208" cy="1024128"/>
          </a:xfrm>
          <a:prstGeom prst="rect">
            <a:avLst/>
          </a:prstGeom>
          <a:noFill/>
        </p:spPr>
        <p:txBody>
          <a:bodyPr wrap="square">
            <a:spAutoFit/>
          </a:bodyPr>
          <a:lstStyle/>
          <a:p>
            <a:pPr algn="ctr"/>
            <a:r>
              <a:rPr sz="900" b="1" i="0">
                <a:solidFill>
                  <a:srgbClr val="1B6CA8"/>
                </a:solidFill>
              </a:rPr>
              <a:t>M&amp;A Due
Diligence</a:t>
            </a:r>
          </a:p>
        </p:txBody>
      </p:sp>
      <p:sp>
        <p:nvSpPr>
          <p:cNvPr id="25" name="Rounded Rectangle 24"/>
          <p:cNvSpPr/>
          <p:nvPr/>
        </p:nvSpPr>
        <p:spPr>
          <a:xfrm>
            <a:off x="2011680" y="4206240"/>
            <a:ext cx="1664208" cy="1170432"/>
          </a:xfrm>
          <a:prstGeom prst="roundRect">
            <a:avLst>
              <a:gd name="adj" fmla="val 8000"/>
            </a:avLst>
          </a:prstGeom>
          <a:solidFill>
            <a:srgbClr val="162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11680" y="4206240"/>
            <a:ext cx="1664208" cy="36576"/>
          </a:xfrm>
          <a:prstGeom prst="rect">
            <a:avLst/>
          </a:prstGeom>
          <a:solidFill>
            <a:srgbClr val="1B6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011680" y="4279392"/>
            <a:ext cx="1664208" cy="1024128"/>
          </a:xfrm>
          <a:prstGeom prst="rect">
            <a:avLst/>
          </a:prstGeom>
          <a:noFill/>
        </p:spPr>
        <p:txBody>
          <a:bodyPr wrap="square">
            <a:spAutoFit/>
          </a:bodyPr>
          <a:lstStyle/>
          <a:p>
            <a:pPr algn="ctr"/>
            <a:r>
              <a:rPr sz="900" b="1" i="0">
                <a:solidFill>
                  <a:srgbClr val="1B6CA8"/>
                </a:solidFill>
              </a:rPr>
              <a:t>Financial
Modeling</a:t>
            </a:r>
          </a:p>
        </p:txBody>
      </p:sp>
      <p:sp>
        <p:nvSpPr>
          <p:cNvPr id="28" name="Rounded Rectangle 27"/>
          <p:cNvSpPr/>
          <p:nvPr/>
        </p:nvSpPr>
        <p:spPr>
          <a:xfrm>
            <a:off x="8138160" y="1280160"/>
            <a:ext cx="1664208" cy="1170432"/>
          </a:xfrm>
          <a:prstGeom prst="roundRect">
            <a:avLst>
              <a:gd name="adj" fmla="val 8000"/>
            </a:avLst>
          </a:prstGeom>
          <a:solidFill>
            <a:srgbClr val="162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138160" y="1280160"/>
            <a:ext cx="1664208" cy="36576"/>
          </a:xfrm>
          <a:prstGeom prst="rect">
            <a:avLst/>
          </a:prstGeom>
          <a:solidFill>
            <a:srgbClr val="8B3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38160" y="1353312"/>
            <a:ext cx="1664208" cy="1024128"/>
          </a:xfrm>
          <a:prstGeom prst="rect">
            <a:avLst/>
          </a:prstGeom>
          <a:noFill/>
        </p:spPr>
        <p:txBody>
          <a:bodyPr wrap="square">
            <a:spAutoFit/>
          </a:bodyPr>
          <a:lstStyle/>
          <a:p>
            <a:pPr algn="ctr"/>
            <a:r>
              <a:rPr sz="900" b="1" i="0">
                <a:solidFill>
                  <a:srgbClr val="8B3DFF"/>
                </a:solidFill>
              </a:rPr>
              <a:t>Creative
Designer</a:t>
            </a:r>
          </a:p>
        </p:txBody>
      </p:sp>
      <p:sp>
        <p:nvSpPr>
          <p:cNvPr id="31" name="Rounded Rectangle 30"/>
          <p:cNvSpPr/>
          <p:nvPr/>
        </p:nvSpPr>
        <p:spPr>
          <a:xfrm>
            <a:off x="8138160" y="2743200"/>
            <a:ext cx="1664208" cy="1170432"/>
          </a:xfrm>
          <a:prstGeom prst="roundRect">
            <a:avLst>
              <a:gd name="adj" fmla="val 8000"/>
            </a:avLst>
          </a:prstGeom>
          <a:solidFill>
            <a:srgbClr val="162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138160" y="2743200"/>
            <a:ext cx="1664208" cy="36576"/>
          </a:xfrm>
          <a:prstGeom prst="rect">
            <a:avLst/>
          </a:prstGeom>
          <a:solidFill>
            <a:srgbClr val="8B3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138160" y="2816352"/>
            <a:ext cx="1664208" cy="1024128"/>
          </a:xfrm>
          <a:prstGeom prst="rect">
            <a:avLst/>
          </a:prstGeom>
          <a:noFill/>
        </p:spPr>
        <p:txBody>
          <a:bodyPr wrap="square">
            <a:spAutoFit/>
          </a:bodyPr>
          <a:lstStyle/>
          <a:p>
            <a:pPr algn="ctr"/>
            <a:r>
              <a:rPr sz="900" b="1" i="0">
                <a:solidFill>
                  <a:srgbClr val="8B3DFF"/>
                </a:solidFill>
              </a:rPr>
              <a:t>EPM
Requirements</a:t>
            </a:r>
          </a:p>
        </p:txBody>
      </p:sp>
      <p:sp>
        <p:nvSpPr>
          <p:cNvPr id="34" name="Rounded Rectangle 33"/>
          <p:cNvSpPr/>
          <p:nvPr/>
        </p:nvSpPr>
        <p:spPr>
          <a:xfrm>
            <a:off x="8138160" y="4206240"/>
            <a:ext cx="1664208" cy="1170432"/>
          </a:xfrm>
          <a:prstGeom prst="roundRect">
            <a:avLst>
              <a:gd name="adj" fmla="val 8000"/>
            </a:avLst>
          </a:prstGeom>
          <a:solidFill>
            <a:srgbClr val="162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138160" y="4206240"/>
            <a:ext cx="1664208" cy="36576"/>
          </a:xfrm>
          <a:prstGeom prst="rect">
            <a:avLst/>
          </a:prstGeom>
          <a:solidFill>
            <a:srgbClr val="FF33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138160" y="4279392"/>
            <a:ext cx="1664208" cy="1024128"/>
          </a:xfrm>
          <a:prstGeom prst="rect">
            <a:avLst/>
          </a:prstGeom>
          <a:noFill/>
        </p:spPr>
        <p:txBody>
          <a:bodyPr wrap="square">
            <a:spAutoFit/>
          </a:bodyPr>
          <a:lstStyle/>
          <a:p>
            <a:pPr algn="ctr"/>
            <a:r>
              <a:rPr sz="900" b="1" i="0">
                <a:solidFill>
                  <a:srgbClr val="FF3321"/>
                </a:solidFill>
              </a:rPr>
              <a:t>Databricks
Pipeline</a:t>
            </a:r>
          </a:p>
        </p:txBody>
      </p:sp>
      <p:sp>
        <p:nvSpPr>
          <p:cNvPr id="37" name="Rounded Rectangle 36"/>
          <p:cNvSpPr/>
          <p:nvPr/>
        </p:nvSpPr>
        <p:spPr>
          <a:xfrm>
            <a:off x="9921240" y="1280160"/>
            <a:ext cx="1664208" cy="1170432"/>
          </a:xfrm>
          <a:prstGeom prst="roundRect">
            <a:avLst>
              <a:gd name="adj" fmla="val 8000"/>
            </a:avLst>
          </a:prstGeom>
          <a:solidFill>
            <a:srgbClr val="162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921240" y="1280160"/>
            <a:ext cx="1664208" cy="36576"/>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921240" y="1353312"/>
            <a:ext cx="1664208" cy="1024128"/>
          </a:xfrm>
          <a:prstGeom prst="rect">
            <a:avLst/>
          </a:prstGeom>
          <a:noFill/>
        </p:spPr>
        <p:txBody>
          <a:bodyPr wrap="square">
            <a:spAutoFit/>
          </a:bodyPr>
          <a:lstStyle/>
          <a:p>
            <a:pPr algn="ctr"/>
            <a:r>
              <a:rPr sz="900" b="1" i="0">
                <a:solidFill>
                  <a:srgbClr val="FF8C00"/>
                </a:solidFill>
              </a:rPr>
              <a:t>Vector Search
Router</a:t>
            </a:r>
          </a:p>
        </p:txBody>
      </p:sp>
      <p:sp>
        <p:nvSpPr>
          <p:cNvPr id="40" name="Rounded Rectangle 39"/>
          <p:cNvSpPr/>
          <p:nvPr/>
        </p:nvSpPr>
        <p:spPr>
          <a:xfrm>
            <a:off x="9921240" y="2743200"/>
            <a:ext cx="1664208" cy="1170432"/>
          </a:xfrm>
          <a:prstGeom prst="roundRect">
            <a:avLst>
              <a:gd name="adj" fmla="val 8000"/>
            </a:avLst>
          </a:prstGeom>
          <a:solidFill>
            <a:srgbClr val="162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921240" y="2743200"/>
            <a:ext cx="1664208" cy="36576"/>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921240" y="2816352"/>
            <a:ext cx="1664208" cy="1024128"/>
          </a:xfrm>
          <a:prstGeom prst="rect">
            <a:avLst/>
          </a:prstGeom>
          <a:noFill/>
        </p:spPr>
        <p:txBody>
          <a:bodyPr wrap="square">
            <a:spAutoFit/>
          </a:bodyPr>
          <a:lstStyle/>
          <a:p>
            <a:pPr algn="ctr"/>
            <a:r>
              <a:rPr sz="900" b="1" i="0">
                <a:solidFill>
                  <a:srgbClr val="FF8C00"/>
                </a:solidFill>
              </a:rPr>
              <a:t>ERP/EPM
Tools</a:t>
            </a:r>
          </a:p>
        </p:txBody>
      </p:sp>
      <p:sp>
        <p:nvSpPr>
          <p:cNvPr id="43" name="Rounded Rectangle 42"/>
          <p:cNvSpPr/>
          <p:nvPr/>
        </p:nvSpPr>
        <p:spPr>
          <a:xfrm>
            <a:off x="9921240" y="4206240"/>
            <a:ext cx="1664208" cy="1170432"/>
          </a:xfrm>
          <a:prstGeom prst="roundRect">
            <a:avLst>
              <a:gd name="adj" fmla="val 8000"/>
            </a:avLst>
          </a:prstGeom>
          <a:solidFill>
            <a:srgbClr val="162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9921240" y="4206240"/>
            <a:ext cx="1664208" cy="36576"/>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921240" y="4279392"/>
            <a:ext cx="1664208" cy="1024128"/>
          </a:xfrm>
          <a:prstGeom prst="rect">
            <a:avLst/>
          </a:prstGeom>
          <a:noFill/>
        </p:spPr>
        <p:txBody>
          <a:bodyPr wrap="square">
            <a:spAutoFit/>
          </a:bodyPr>
          <a:lstStyle/>
          <a:p>
            <a:pPr algn="ctr"/>
            <a:r>
              <a:rPr sz="900" b="1" i="0">
                <a:solidFill>
                  <a:srgbClr val="FF8C00"/>
                </a:solidFill>
              </a:rPr>
              <a:t>Fact Check
Agent</a:t>
            </a:r>
          </a:p>
        </p:txBody>
      </p:sp>
      <p:sp>
        <p:nvSpPr>
          <p:cNvPr id="46" name="TextBox 45"/>
          <p:cNvSpPr txBox="1"/>
          <p:nvPr/>
        </p:nvSpPr>
        <p:spPr>
          <a:xfrm>
            <a:off x="320040" y="5349240"/>
            <a:ext cx="3840480" cy="329184"/>
          </a:xfrm>
          <a:prstGeom prst="rect">
            <a:avLst/>
          </a:prstGeom>
          <a:noFill/>
        </p:spPr>
        <p:txBody>
          <a:bodyPr wrap="square">
            <a:spAutoFit/>
          </a:bodyPr>
          <a:lstStyle/>
          <a:p>
            <a:pPr algn="l"/>
            <a:r>
              <a:rPr sz="900" b="1" i="0">
                <a:solidFill>
                  <a:srgbClr val="00C2FF"/>
                </a:solidFill>
              </a:rPr>
              <a:t>Claude Opus 4.6</a:t>
            </a:r>
          </a:p>
        </p:txBody>
      </p:sp>
      <p:sp>
        <p:nvSpPr>
          <p:cNvPr id="47" name="TextBox 46"/>
          <p:cNvSpPr txBox="1"/>
          <p:nvPr/>
        </p:nvSpPr>
        <p:spPr>
          <a:xfrm>
            <a:off x="320040" y="5650992"/>
            <a:ext cx="3840480" cy="292608"/>
          </a:xfrm>
          <a:prstGeom prst="rect">
            <a:avLst/>
          </a:prstGeom>
          <a:noFill/>
        </p:spPr>
        <p:txBody>
          <a:bodyPr wrap="square">
            <a:spAutoFit/>
          </a:bodyPr>
          <a:lstStyle/>
          <a:p>
            <a:pPr algn="l"/>
            <a:r>
              <a:rPr sz="800" b="0" i="0">
                <a:solidFill>
                  <a:srgbClr val="CCD6E0"/>
                </a:solidFill>
              </a:rPr>
              <a:t>↑ Technical Accounting Specialists</a:t>
            </a:r>
          </a:p>
        </p:txBody>
      </p:sp>
      <p:sp>
        <p:nvSpPr>
          <p:cNvPr id="48" name="TextBox 47"/>
          <p:cNvSpPr txBox="1"/>
          <p:nvPr/>
        </p:nvSpPr>
        <p:spPr>
          <a:xfrm>
            <a:off x="4892040" y="5349240"/>
            <a:ext cx="2743200" cy="329184"/>
          </a:xfrm>
          <a:prstGeom prst="rect">
            <a:avLst/>
          </a:prstGeom>
          <a:noFill/>
        </p:spPr>
        <p:txBody>
          <a:bodyPr wrap="square">
            <a:spAutoFit/>
          </a:bodyPr>
          <a:lstStyle/>
          <a:p>
            <a:pPr algn="ctr"/>
            <a:r>
              <a:rPr sz="900" b="1" i="0">
                <a:solidFill>
                  <a:srgbClr val="10A37F"/>
                </a:solidFill>
              </a:rPr>
              <a:t>OpenClaw / GPT-4o</a:t>
            </a:r>
          </a:p>
        </p:txBody>
      </p:sp>
      <p:sp>
        <p:nvSpPr>
          <p:cNvPr id="49" name="TextBox 48"/>
          <p:cNvSpPr txBox="1"/>
          <p:nvPr/>
        </p:nvSpPr>
        <p:spPr>
          <a:xfrm>
            <a:off x="4892040" y="5650992"/>
            <a:ext cx="2743200" cy="292608"/>
          </a:xfrm>
          <a:prstGeom prst="rect">
            <a:avLst/>
          </a:prstGeom>
          <a:noFill/>
        </p:spPr>
        <p:txBody>
          <a:bodyPr wrap="square">
            <a:spAutoFit/>
          </a:bodyPr>
          <a:lstStyle/>
          <a:p>
            <a:pPr algn="ctr"/>
            <a:r>
              <a:rPr sz="800" b="0" i="0">
                <a:solidFill>
                  <a:srgbClr val="CCD6E0"/>
                </a:solidFill>
              </a:rPr>
              <a:t>↑ Workflow Engine</a:t>
            </a:r>
          </a:p>
        </p:txBody>
      </p:sp>
      <p:sp>
        <p:nvSpPr>
          <p:cNvPr id="50" name="TextBox 49"/>
          <p:cNvSpPr txBox="1"/>
          <p:nvPr/>
        </p:nvSpPr>
        <p:spPr>
          <a:xfrm>
            <a:off x="8092440" y="5349240"/>
            <a:ext cx="3840480" cy="329184"/>
          </a:xfrm>
          <a:prstGeom prst="rect">
            <a:avLst/>
          </a:prstGeom>
          <a:noFill/>
        </p:spPr>
        <p:txBody>
          <a:bodyPr wrap="square">
            <a:spAutoFit/>
          </a:bodyPr>
          <a:lstStyle/>
          <a:p>
            <a:pPr algn="l"/>
            <a:r>
              <a:rPr sz="900" b="1" i="0">
                <a:solidFill>
                  <a:srgbClr val="FF8C00"/>
                </a:solidFill>
              </a:rPr>
              <a:t>Claude + Qwen 2.5</a:t>
            </a:r>
          </a:p>
        </p:txBody>
      </p:sp>
      <p:sp>
        <p:nvSpPr>
          <p:cNvPr id="51" name="TextBox 50"/>
          <p:cNvSpPr txBox="1"/>
          <p:nvPr/>
        </p:nvSpPr>
        <p:spPr>
          <a:xfrm>
            <a:off x="8092440" y="5650992"/>
            <a:ext cx="3840480" cy="292608"/>
          </a:xfrm>
          <a:prstGeom prst="rect">
            <a:avLst/>
          </a:prstGeom>
          <a:noFill/>
        </p:spPr>
        <p:txBody>
          <a:bodyPr wrap="square">
            <a:spAutoFit/>
          </a:bodyPr>
          <a:lstStyle/>
          <a:p>
            <a:pPr algn="l"/>
            <a:r>
              <a:rPr sz="800" b="0" i="0">
                <a:solidFill>
                  <a:srgbClr val="CCD6E0"/>
                </a:solidFill>
              </a:rPr>
              <a:t>↑ Design, Data &amp; ERP/EPM Specialists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73152" cy="685800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4572000" cy="347472"/>
          </a:xfrm>
          <a:prstGeom prst="rect">
            <a:avLst/>
          </a:prstGeom>
          <a:noFill/>
        </p:spPr>
        <p:txBody>
          <a:bodyPr wrap="square">
            <a:spAutoFit/>
          </a:bodyPr>
          <a:lstStyle/>
          <a:p>
            <a:pPr algn="l"/>
            <a:r>
              <a:rPr sz="1000" b="1" i="0">
                <a:solidFill>
                  <a:srgbClr val="FF8C00"/>
                </a:solidFill>
              </a:rPr>
              <a:t>THE TOOL ECOSYSTEM</a:t>
            </a:r>
          </a:p>
        </p:txBody>
      </p:sp>
      <p:sp>
        <p:nvSpPr>
          <p:cNvPr id="4" name="TextBox 3"/>
          <p:cNvSpPr txBox="1"/>
          <p:nvPr/>
        </p:nvSpPr>
        <p:spPr>
          <a:xfrm>
            <a:off x="320040" y="475488"/>
            <a:ext cx="11430000" cy="658368"/>
          </a:xfrm>
          <a:prstGeom prst="rect">
            <a:avLst/>
          </a:prstGeom>
          <a:noFill/>
        </p:spPr>
        <p:txBody>
          <a:bodyPr wrap="square">
            <a:spAutoFit/>
          </a:bodyPr>
          <a:lstStyle/>
          <a:p>
            <a:pPr algn="l"/>
            <a:r>
              <a:rPr sz="2600" b="1" i="0">
                <a:solidFill>
                  <a:srgbClr val="FFFFFF"/>
                </a:solidFill>
              </a:rPr>
              <a:t>Six Integrated Tool Layers</a:t>
            </a:r>
          </a:p>
        </p:txBody>
      </p:sp>
      <p:sp>
        <p:nvSpPr>
          <p:cNvPr id="5" name="Rectangle 4"/>
          <p:cNvSpPr/>
          <p:nvPr/>
        </p:nvSpPr>
        <p:spPr>
          <a:xfrm>
            <a:off x="320040" y="1170432"/>
            <a:ext cx="11411712" cy="2286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320040" y="1298448"/>
            <a:ext cx="3749039" cy="2331720"/>
          </a:xfrm>
          <a:prstGeom prst="roundRect">
            <a:avLst>
              <a:gd name="adj" fmla="val 8000"/>
            </a:avLst>
          </a:prstGeom>
          <a:solidFill>
            <a:srgbClr val="162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 y="1298448"/>
            <a:ext cx="3749039" cy="45720"/>
          </a:xfrm>
          <a:prstGeom prst="rect">
            <a:avLst/>
          </a:prstGeom>
          <a:solidFill>
            <a:srgbClr val="8B3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389888"/>
            <a:ext cx="3520439" cy="475488"/>
          </a:xfrm>
          <a:prstGeom prst="rect">
            <a:avLst/>
          </a:prstGeom>
          <a:noFill/>
        </p:spPr>
        <p:txBody>
          <a:bodyPr wrap="square">
            <a:spAutoFit/>
          </a:bodyPr>
          <a:lstStyle/>
          <a:p>
            <a:pPr algn="l"/>
            <a:r>
              <a:rPr sz="1300" b="1" i="0">
                <a:solidFill>
                  <a:srgbClr val="8B3DFF"/>
                </a:solidFill>
              </a:rPr>
              <a:t>🎨  Canva MCP</a:t>
            </a:r>
          </a:p>
        </p:txBody>
      </p:sp>
      <p:sp>
        <p:nvSpPr>
          <p:cNvPr id="9" name="TextBox 8"/>
          <p:cNvSpPr txBox="1"/>
          <p:nvPr/>
        </p:nvSpPr>
        <p:spPr>
          <a:xfrm>
            <a:off x="457200" y="1847088"/>
            <a:ext cx="3520439" cy="274320"/>
          </a:xfrm>
          <a:prstGeom prst="rect">
            <a:avLst/>
          </a:prstGeom>
          <a:noFill/>
        </p:spPr>
        <p:txBody>
          <a:bodyPr wrap="square">
            <a:spAutoFit/>
          </a:bodyPr>
          <a:lstStyle/>
          <a:p>
            <a:pPr algn="l"/>
            <a:r>
              <a:rPr sz="850" b="0" i="1">
                <a:solidFill>
                  <a:srgbClr val="556B82"/>
                </a:solidFill>
              </a:rPr>
              <a:t>Visual Deliverable Generation</a:t>
            </a:r>
          </a:p>
        </p:txBody>
      </p:sp>
      <p:sp>
        <p:nvSpPr>
          <p:cNvPr id="10" name="TextBox 9"/>
          <p:cNvSpPr txBox="1"/>
          <p:nvPr/>
        </p:nvSpPr>
        <p:spPr>
          <a:xfrm>
            <a:off x="457200" y="2167128"/>
            <a:ext cx="3520439" cy="274320"/>
          </a:xfrm>
          <a:prstGeom prst="rect">
            <a:avLst/>
          </a:prstGeom>
          <a:noFill/>
        </p:spPr>
        <p:txBody>
          <a:bodyPr wrap="square">
            <a:spAutoFit/>
          </a:bodyPr>
          <a:lstStyle/>
          <a:p>
            <a:pPr algn="l"/>
            <a:r>
              <a:rPr sz="900" b="0" i="0">
                <a:solidFill>
                  <a:srgbClr val="CCD6E0"/>
                </a:solidFill>
              </a:rPr>
              <a:t>·  Executive Presentations</a:t>
            </a:r>
          </a:p>
        </p:txBody>
      </p:sp>
      <p:sp>
        <p:nvSpPr>
          <p:cNvPr id="11" name="TextBox 10"/>
          <p:cNvSpPr txBox="1"/>
          <p:nvPr/>
        </p:nvSpPr>
        <p:spPr>
          <a:xfrm>
            <a:off x="457200" y="2478024"/>
            <a:ext cx="3520439" cy="274320"/>
          </a:xfrm>
          <a:prstGeom prst="rect">
            <a:avLst/>
          </a:prstGeom>
          <a:noFill/>
        </p:spPr>
        <p:txBody>
          <a:bodyPr wrap="square">
            <a:spAutoFit/>
          </a:bodyPr>
          <a:lstStyle/>
          <a:p>
            <a:pPr algn="l"/>
            <a:r>
              <a:rPr sz="900" b="0" i="0">
                <a:solidFill>
                  <a:srgbClr val="CCD6E0"/>
                </a:solidFill>
              </a:rPr>
              <a:t>·  CFO Dashboards</a:t>
            </a:r>
          </a:p>
        </p:txBody>
      </p:sp>
      <p:sp>
        <p:nvSpPr>
          <p:cNvPr id="12" name="TextBox 11"/>
          <p:cNvSpPr txBox="1"/>
          <p:nvPr/>
        </p:nvSpPr>
        <p:spPr>
          <a:xfrm>
            <a:off x="457200" y="2788920"/>
            <a:ext cx="3520439" cy="274320"/>
          </a:xfrm>
          <a:prstGeom prst="rect">
            <a:avLst/>
          </a:prstGeom>
          <a:noFill/>
        </p:spPr>
        <p:txBody>
          <a:bodyPr wrap="square">
            <a:spAutoFit/>
          </a:bodyPr>
          <a:lstStyle/>
          <a:p>
            <a:pPr algn="l"/>
            <a:r>
              <a:rPr sz="900" b="0" i="0">
                <a:solidFill>
                  <a:srgbClr val="CCD6E0"/>
                </a:solidFill>
              </a:rPr>
              <a:t>·  ERP Roadmaps</a:t>
            </a:r>
          </a:p>
        </p:txBody>
      </p:sp>
      <p:sp>
        <p:nvSpPr>
          <p:cNvPr id="13" name="TextBox 12"/>
          <p:cNvSpPr txBox="1"/>
          <p:nvPr/>
        </p:nvSpPr>
        <p:spPr>
          <a:xfrm>
            <a:off x="457200" y="3099815"/>
            <a:ext cx="3520439" cy="274320"/>
          </a:xfrm>
          <a:prstGeom prst="rect">
            <a:avLst/>
          </a:prstGeom>
          <a:noFill/>
        </p:spPr>
        <p:txBody>
          <a:bodyPr wrap="square">
            <a:spAutoFit/>
          </a:bodyPr>
          <a:lstStyle/>
          <a:p>
            <a:pPr algn="l"/>
            <a:r>
              <a:rPr sz="900" b="0" i="0">
                <a:solidFill>
                  <a:srgbClr val="CCD6E0"/>
                </a:solidFill>
              </a:rPr>
              <a:t>·  One-Pagers</a:t>
            </a:r>
          </a:p>
        </p:txBody>
      </p:sp>
      <p:sp>
        <p:nvSpPr>
          <p:cNvPr id="14" name="Rounded Rectangle 13"/>
          <p:cNvSpPr/>
          <p:nvPr/>
        </p:nvSpPr>
        <p:spPr>
          <a:xfrm>
            <a:off x="4251959" y="1298448"/>
            <a:ext cx="3749039" cy="2331720"/>
          </a:xfrm>
          <a:prstGeom prst="roundRect">
            <a:avLst>
              <a:gd name="adj" fmla="val 8000"/>
            </a:avLst>
          </a:prstGeom>
          <a:solidFill>
            <a:srgbClr val="162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51959" y="1298448"/>
            <a:ext cx="3749039" cy="45720"/>
          </a:xfrm>
          <a:prstGeom prst="rect">
            <a:avLst/>
          </a:prstGeom>
          <a:solidFill>
            <a:srgbClr val="FF33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89120" y="1389888"/>
            <a:ext cx="3520439" cy="475488"/>
          </a:xfrm>
          <a:prstGeom prst="rect">
            <a:avLst/>
          </a:prstGeom>
          <a:noFill/>
        </p:spPr>
        <p:txBody>
          <a:bodyPr wrap="square">
            <a:spAutoFit/>
          </a:bodyPr>
          <a:lstStyle/>
          <a:p>
            <a:pPr algn="l"/>
            <a:r>
              <a:rPr sz="1300" b="1" i="0">
                <a:solidFill>
                  <a:srgbClr val="FF3321"/>
                </a:solidFill>
              </a:rPr>
              <a:t>⚡  Databricks Agentic AI</a:t>
            </a:r>
          </a:p>
        </p:txBody>
      </p:sp>
      <p:sp>
        <p:nvSpPr>
          <p:cNvPr id="17" name="TextBox 16"/>
          <p:cNvSpPr txBox="1"/>
          <p:nvPr/>
        </p:nvSpPr>
        <p:spPr>
          <a:xfrm>
            <a:off x="4389120" y="1847088"/>
            <a:ext cx="3520439" cy="274320"/>
          </a:xfrm>
          <a:prstGeom prst="rect">
            <a:avLst/>
          </a:prstGeom>
          <a:noFill/>
        </p:spPr>
        <p:txBody>
          <a:bodyPr wrap="square">
            <a:spAutoFit/>
          </a:bodyPr>
          <a:lstStyle/>
          <a:p>
            <a:pPr algn="l"/>
            <a:r>
              <a:rPr sz="850" b="0" i="1">
                <a:solidFill>
                  <a:srgbClr val="556B82"/>
                </a:solidFill>
              </a:rPr>
              <a:t>Data &amp; AI Platform</a:t>
            </a:r>
          </a:p>
        </p:txBody>
      </p:sp>
      <p:sp>
        <p:nvSpPr>
          <p:cNvPr id="18" name="TextBox 17"/>
          <p:cNvSpPr txBox="1"/>
          <p:nvPr/>
        </p:nvSpPr>
        <p:spPr>
          <a:xfrm>
            <a:off x="4389120" y="2167128"/>
            <a:ext cx="3520439" cy="274320"/>
          </a:xfrm>
          <a:prstGeom prst="rect">
            <a:avLst/>
          </a:prstGeom>
          <a:noFill/>
        </p:spPr>
        <p:txBody>
          <a:bodyPr wrap="square">
            <a:spAutoFit/>
          </a:bodyPr>
          <a:lstStyle/>
          <a:p>
            <a:pPr algn="l"/>
            <a:r>
              <a:rPr sz="900" b="0" i="0">
                <a:solidFill>
                  <a:srgbClr val="CCD6E0"/>
                </a:solidFill>
              </a:rPr>
              <a:t>·  IFRS/GAAP Vector Search</a:t>
            </a:r>
          </a:p>
        </p:txBody>
      </p:sp>
      <p:sp>
        <p:nvSpPr>
          <p:cNvPr id="19" name="TextBox 18"/>
          <p:cNvSpPr txBox="1"/>
          <p:nvPr/>
        </p:nvSpPr>
        <p:spPr>
          <a:xfrm>
            <a:off x="4389120" y="2478024"/>
            <a:ext cx="3520439" cy="274320"/>
          </a:xfrm>
          <a:prstGeom prst="rect">
            <a:avLst/>
          </a:prstGeom>
          <a:noFill/>
        </p:spPr>
        <p:txBody>
          <a:bodyPr wrap="square">
            <a:spAutoFit/>
          </a:bodyPr>
          <a:lstStyle/>
          <a:p>
            <a:pPr algn="l"/>
            <a:r>
              <a:rPr sz="900" b="0" i="0">
                <a:solidFill>
                  <a:srgbClr val="CCD6E0"/>
                </a:solidFill>
              </a:rPr>
              <a:t>·  Delta Lake Analytics</a:t>
            </a:r>
          </a:p>
        </p:txBody>
      </p:sp>
      <p:sp>
        <p:nvSpPr>
          <p:cNvPr id="20" name="TextBox 19"/>
          <p:cNvSpPr txBox="1"/>
          <p:nvPr/>
        </p:nvSpPr>
        <p:spPr>
          <a:xfrm>
            <a:off x="4389120" y="2788920"/>
            <a:ext cx="3520439" cy="274320"/>
          </a:xfrm>
          <a:prstGeom prst="rect">
            <a:avLst/>
          </a:prstGeom>
          <a:noFill/>
        </p:spPr>
        <p:txBody>
          <a:bodyPr wrap="square">
            <a:spAutoFit/>
          </a:bodyPr>
          <a:lstStyle/>
          <a:p>
            <a:pPr algn="l"/>
            <a:r>
              <a:rPr sz="900" b="0" i="0">
                <a:solidFill>
                  <a:srgbClr val="CCD6E0"/>
                </a:solidFill>
              </a:rPr>
              <a:t>·  MLflow Tracking</a:t>
            </a:r>
          </a:p>
        </p:txBody>
      </p:sp>
      <p:sp>
        <p:nvSpPr>
          <p:cNvPr id="21" name="TextBox 20"/>
          <p:cNvSpPr txBox="1"/>
          <p:nvPr/>
        </p:nvSpPr>
        <p:spPr>
          <a:xfrm>
            <a:off x="4389120" y="3099815"/>
            <a:ext cx="3520439" cy="274320"/>
          </a:xfrm>
          <a:prstGeom prst="rect">
            <a:avLst/>
          </a:prstGeom>
          <a:noFill/>
        </p:spPr>
        <p:txBody>
          <a:bodyPr wrap="square">
            <a:spAutoFit/>
          </a:bodyPr>
          <a:lstStyle/>
          <a:p>
            <a:pPr algn="l"/>
            <a:r>
              <a:rPr sz="900" b="0" i="0">
                <a:solidFill>
                  <a:srgbClr val="CCD6E0"/>
                </a:solidFill>
              </a:rPr>
              <a:t>·  SQL Warehousing</a:t>
            </a:r>
          </a:p>
        </p:txBody>
      </p:sp>
      <p:sp>
        <p:nvSpPr>
          <p:cNvPr id="22" name="Rounded Rectangle 21"/>
          <p:cNvSpPr/>
          <p:nvPr/>
        </p:nvSpPr>
        <p:spPr>
          <a:xfrm>
            <a:off x="8183879" y="1298448"/>
            <a:ext cx="3749039" cy="2331720"/>
          </a:xfrm>
          <a:prstGeom prst="roundRect">
            <a:avLst>
              <a:gd name="adj" fmla="val 8000"/>
            </a:avLst>
          </a:prstGeom>
          <a:solidFill>
            <a:srgbClr val="162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183879" y="1298448"/>
            <a:ext cx="3749039" cy="45720"/>
          </a:xfrm>
          <a:prstGeom prst="rect">
            <a:avLst/>
          </a:prstGeom>
          <a:solidFill>
            <a:srgbClr val="00D4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21040" y="1389888"/>
            <a:ext cx="3520439" cy="475488"/>
          </a:xfrm>
          <a:prstGeom prst="rect">
            <a:avLst/>
          </a:prstGeom>
          <a:noFill/>
        </p:spPr>
        <p:txBody>
          <a:bodyPr wrap="square">
            <a:spAutoFit/>
          </a:bodyPr>
          <a:lstStyle/>
          <a:p>
            <a:pPr algn="l"/>
            <a:r>
              <a:rPr sz="1300" b="1" i="0">
                <a:solidFill>
                  <a:srgbClr val="00D48A"/>
                </a:solidFill>
              </a:rPr>
              <a:t>🎬  Video Animation</a:t>
            </a:r>
          </a:p>
        </p:txBody>
      </p:sp>
      <p:sp>
        <p:nvSpPr>
          <p:cNvPr id="25" name="TextBox 24"/>
          <p:cNvSpPr txBox="1"/>
          <p:nvPr/>
        </p:nvSpPr>
        <p:spPr>
          <a:xfrm>
            <a:off x="8321040" y="1847088"/>
            <a:ext cx="3520439" cy="274320"/>
          </a:xfrm>
          <a:prstGeom prst="rect">
            <a:avLst/>
          </a:prstGeom>
          <a:noFill/>
        </p:spPr>
        <p:txBody>
          <a:bodyPr wrap="square">
            <a:spAutoFit/>
          </a:bodyPr>
          <a:lstStyle/>
          <a:p>
            <a:pPr algn="l"/>
            <a:r>
              <a:rPr sz="850" b="0" i="1">
                <a:solidFill>
                  <a:srgbClr val="556B82"/>
                </a:solidFill>
              </a:rPr>
              <a:t>Animated Consulting Videos</a:t>
            </a:r>
          </a:p>
        </p:txBody>
      </p:sp>
      <p:sp>
        <p:nvSpPr>
          <p:cNvPr id="26" name="TextBox 25"/>
          <p:cNvSpPr txBox="1"/>
          <p:nvPr/>
        </p:nvSpPr>
        <p:spPr>
          <a:xfrm>
            <a:off x="8321040" y="2167128"/>
            <a:ext cx="3520439" cy="274320"/>
          </a:xfrm>
          <a:prstGeom prst="rect">
            <a:avLst/>
          </a:prstGeom>
          <a:noFill/>
        </p:spPr>
        <p:txBody>
          <a:bodyPr wrap="square">
            <a:spAutoFit/>
          </a:bodyPr>
          <a:lstStyle/>
          <a:p>
            <a:pPr algn="l"/>
            <a:r>
              <a:rPr sz="900" b="0" i="0">
                <a:solidFill>
                  <a:srgbClr val="CCD6E0"/>
                </a:solidFill>
              </a:rPr>
              <a:t>·  Roadmap Animations</a:t>
            </a:r>
          </a:p>
        </p:txBody>
      </p:sp>
      <p:sp>
        <p:nvSpPr>
          <p:cNvPr id="27" name="TextBox 26"/>
          <p:cNvSpPr txBox="1"/>
          <p:nvPr/>
        </p:nvSpPr>
        <p:spPr>
          <a:xfrm>
            <a:off x="8321040" y="2478024"/>
            <a:ext cx="3520439" cy="274320"/>
          </a:xfrm>
          <a:prstGeom prst="rect">
            <a:avLst/>
          </a:prstGeom>
          <a:noFill/>
        </p:spPr>
        <p:txBody>
          <a:bodyPr wrap="square">
            <a:spAutoFit/>
          </a:bodyPr>
          <a:lstStyle/>
          <a:p>
            <a:pPr algn="l"/>
            <a:r>
              <a:rPr sz="900" b="0" i="0">
                <a:solidFill>
                  <a:srgbClr val="CCD6E0"/>
                </a:solidFill>
              </a:rPr>
              <a:t>·  KPI Dashboard Videos</a:t>
            </a:r>
          </a:p>
        </p:txBody>
      </p:sp>
      <p:sp>
        <p:nvSpPr>
          <p:cNvPr id="28" name="TextBox 27"/>
          <p:cNvSpPr txBox="1"/>
          <p:nvPr/>
        </p:nvSpPr>
        <p:spPr>
          <a:xfrm>
            <a:off x="8321040" y="2788920"/>
            <a:ext cx="3520439" cy="274320"/>
          </a:xfrm>
          <a:prstGeom prst="rect">
            <a:avLst/>
          </a:prstGeom>
          <a:noFill/>
        </p:spPr>
        <p:txBody>
          <a:bodyPr wrap="square">
            <a:spAutoFit/>
          </a:bodyPr>
          <a:lstStyle/>
          <a:p>
            <a:pPr algn="l"/>
            <a:r>
              <a:rPr sz="900" b="0" i="0">
                <a:solidFill>
                  <a:srgbClr val="CCD6E0"/>
                </a:solidFill>
              </a:rPr>
              <a:t>·  Process Flow Animations</a:t>
            </a:r>
          </a:p>
        </p:txBody>
      </p:sp>
      <p:sp>
        <p:nvSpPr>
          <p:cNvPr id="29" name="TextBox 28"/>
          <p:cNvSpPr txBox="1"/>
          <p:nvPr/>
        </p:nvSpPr>
        <p:spPr>
          <a:xfrm>
            <a:off x="8321040" y="3099815"/>
            <a:ext cx="3520439" cy="274320"/>
          </a:xfrm>
          <a:prstGeom prst="rect">
            <a:avLst/>
          </a:prstGeom>
          <a:noFill/>
        </p:spPr>
        <p:txBody>
          <a:bodyPr wrap="square">
            <a:spAutoFit/>
          </a:bodyPr>
          <a:lstStyle/>
          <a:p>
            <a:pPr algn="l"/>
            <a:r>
              <a:rPr sz="900" b="0" i="0">
                <a:solidFill>
                  <a:srgbClr val="CCD6E0"/>
                </a:solidFill>
              </a:rPr>
              <a:t>·  Luma AI Photorealistic</a:t>
            </a:r>
          </a:p>
        </p:txBody>
      </p:sp>
      <p:sp>
        <p:nvSpPr>
          <p:cNvPr id="30" name="Rounded Rectangle 29"/>
          <p:cNvSpPr/>
          <p:nvPr/>
        </p:nvSpPr>
        <p:spPr>
          <a:xfrm>
            <a:off x="320040" y="3831335"/>
            <a:ext cx="3749039" cy="2331720"/>
          </a:xfrm>
          <a:prstGeom prst="roundRect">
            <a:avLst>
              <a:gd name="adj" fmla="val 8000"/>
            </a:avLst>
          </a:prstGeom>
          <a:solidFill>
            <a:srgbClr val="162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20040" y="3831335"/>
            <a:ext cx="3749039" cy="45720"/>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7200" y="3922775"/>
            <a:ext cx="3520439" cy="475488"/>
          </a:xfrm>
          <a:prstGeom prst="rect">
            <a:avLst/>
          </a:prstGeom>
          <a:noFill/>
        </p:spPr>
        <p:txBody>
          <a:bodyPr wrap="square">
            <a:spAutoFit/>
          </a:bodyPr>
          <a:lstStyle/>
          <a:p>
            <a:pPr algn="l"/>
            <a:r>
              <a:rPr sz="1300" b="1" i="0">
                <a:solidFill>
                  <a:srgbClr val="00C2FF"/>
                </a:solidFill>
              </a:rPr>
              <a:t>📊  ERP/EPM Tools</a:t>
            </a:r>
          </a:p>
        </p:txBody>
      </p:sp>
      <p:sp>
        <p:nvSpPr>
          <p:cNvPr id="33" name="TextBox 32"/>
          <p:cNvSpPr txBox="1"/>
          <p:nvPr/>
        </p:nvSpPr>
        <p:spPr>
          <a:xfrm>
            <a:off x="457200" y="4379975"/>
            <a:ext cx="3520439" cy="274320"/>
          </a:xfrm>
          <a:prstGeom prst="rect">
            <a:avLst/>
          </a:prstGeom>
          <a:noFill/>
        </p:spPr>
        <p:txBody>
          <a:bodyPr wrap="square">
            <a:spAutoFit/>
          </a:bodyPr>
          <a:lstStyle/>
          <a:p>
            <a:pPr algn="l"/>
            <a:r>
              <a:rPr sz="850" b="0" i="1">
                <a:solidFill>
                  <a:srgbClr val="556B82"/>
                </a:solidFill>
              </a:rPr>
              <a:t>Consulting Deliverable Generator</a:t>
            </a:r>
          </a:p>
        </p:txBody>
      </p:sp>
      <p:sp>
        <p:nvSpPr>
          <p:cNvPr id="34" name="TextBox 33"/>
          <p:cNvSpPr txBox="1"/>
          <p:nvPr/>
        </p:nvSpPr>
        <p:spPr>
          <a:xfrm>
            <a:off x="457200" y="4700016"/>
            <a:ext cx="3520439" cy="274320"/>
          </a:xfrm>
          <a:prstGeom prst="rect">
            <a:avLst/>
          </a:prstGeom>
          <a:noFill/>
        </p:spPr>
        <p:txBody>
          <a:bodyPr wrap="square">
            <a:spAutoFit/>
          </a:bodyPr>
          <a:lstStyle/>
          <a:p>
            <a:pPr algn="l"/>
            <a:r>
              <a:rPr sz="900" b="0" i="0">
                <a:solidFill>
                  <a:srgbClr val="CCD6E0"/>
                </a:solidFill>
              </a:rPr>
              <a:t>·  Project Plans (XLSX)</a:t>
            </a:r>
          </a:p>
        </p:txBody>
      </p:sp>
      <p:sp>
        <p:nvSpPr>
          <p:cNvPr id="35" name="TextBox 34"/>
          <p:cNvSpPr txBox="1"/>
          <p:nvPr/>
        </p:nvSpPr>
        <p:spPr>
          <a:xfrm>
            <a:off x="457200" y="5010912"/>
            <a:ext cx="3520439" cy="274320"/>
          </a:xfrm>
          <a:prstGeom prst="rect">
            <a:avLst/>
          </a:prstGeom>
          <a:noFill/>
        </p:spPr>
        <p:txBody>
          <a:bodyPr wrap="square">
            <a:spAutoFit/>
          </a:bodyPr>
          <a:lstStyle/>
          <a:p>
            <a:pPr algn="l"/>
            <a:r>
              <a:rPr sz="900" b="0" i="0">
                <a:solidFill>
                  <a:srgbClr val="CCD6E0"/>
                </a:solidFill>
              </a:rPr>
              <a:t>·  COA Design</a:t>
            </a:r>
          </a:p>
        </p:txBody>
      </p:sp>
      <p:sp>
        <p:nvSpPr>
          <p:cNvPr id="36" name="TextBox 35"/>
          <p:cNvSpPr txBox="1"/>
          <p:nvPr/>
        </p:nvSpPr>
        <p:spPr>
          <a:xfrm>
            <a:off x="457200" y="5321807"/>
            <a:ext cx="3520439" cy="274320"/>
          </a:xfrm>
          <a:prstGeom prst="rect">
            <a:avLst/>
          </a:prstGeom>
          <a:noFill/>
        </p:spPr>
        <p:txBody>
          <a:bodyPr wrap="square">
            <a:spAutoFit/>
          </a:bodyPr>
          <a:lstStyle/>
          <a:p>
            <a:pPr algn="l"/>
            <a:r>
              <a:rPr sz="900" b="0" i="0">
                <a:solidFill>
                  <a:srgbClr val="CCD6E0"/>
                </a:solidFill>
              </a:rPr>
              <a:t>·  EPM Requirements</a:t>
            </a:r>
          </a:p>
        </p:txBody>
      </p:sp>
      <p:sp>
        <p:nvSpPr>
          <p:cNvPr id="37" name="TextBox 36"/>
          <p:cNvSpPr txBox="1"/>
          <p:nvPr/>
        </p:nvSpPr>
        <p:spPr>
          <a:xfrm>
            <a:off x="457200" y="5632703"/>
            <a:ext cx="3520439" cy="274320"/>
          </a:xfrm>
          <a:prstGeom prst="rect">
            <a:avLst/>
          </a:prstGeom>
          <a:noFill/>
        </p:spPr>
        <p:txBody>
          <a:bodyPr wrap="square">
            <a:spAutoFit/>
          </a:bodyPr>
          <a:lstStyle/>
          <a:p>
            <a:pPr algn="l"/>
            <a:r>
              <a:rPr sz="900" b="0" i="0">
                <a:solidFill>
                  <a:srgbClr val="CCD6E0"/>
                </a:solidFill>
              </a:rPr>
              <a:t>·  WFP Models</a:t>
            </a:r>
          </a:p>
        </p:txBody>
      </p:sp>
      <p:sp>
        <p:nvSpPr>
          <p:cNvPr id="38" name="Rounded Rectangle 37"/>
          <p:cNvSpPr/>
          <p:nvPr/>
        </p:nvSpPr>
        <p:spPr>
          <a:xfrm>
            <a:off x="4251959" y="3831335"/>
            <a:ext cx="3749039" cy="2331720"/>
          </a:xfrm>
          <a:prstGeom prst="roundRect">
            <a:avLst>
              <a:gd name="adj" fmla="val 8000"/>
            </a:avLst>
          </a:prstGeom>
          <a:solidFill>
            <a:srgbClr val="162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4251959" y="3831335"/>
            <a:ext cx="3749039" cy="45720"/>
          </a:xfrm>
          <a:prstGeom prst="rect">
            <a:avLst/>
          </a:prstGeom>
          <a:solidFill>
            <a:srgbClr val="1B6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389120" y="3922775"/>
            <a:ext cx="3520439" cy="475488"/>
          </a:xfrm>
          <a:prstGeom prst="rect">
            <a:avLst/>
          </a:prstGeom>
          <a:noFill/>
        </p:spPr>
        <p:txBody>
          <a:bodyPr wrap="square">
            <a:spAutoFit/>
          </a:bodyPr>
          <a:lstStyle/>
          <a:p>
            <a:pPr algn="l"/>
            <a:r>
              <a:rPr sz="1300" b="1" i="0">
                <a:solidFill>
                  <a:srgbClr val="1B6CA8"/>
                </a:solidFill>
              </a:rPr>
              <a:t>🧠  Claude API</a:t>
            </a:r>
          </a:p>
        </p:txBody>
      </p:sp>
      <p:sp>
        <p:nvSpPr>
          <p:cNvPr id="41" name="TextBox 40"/>
          <p:cNvSpPr txBox="1"/>
          <p:nvPr/>
        </p:nvSpPr>
        <p:spPr>
          <a:xfrm>
            <a:off x="4389120" y="4379975"/>
            <a:ext cx="3520439" cy="274320"/>
          </a:xfrm>
          <a:prstGeom prst="rect">
            <a:avLst/>
          </a:prstGeom>
          <a:noFill/>
        </p:spPr>
        <p:txBody>
          <a:bodyPr wrap="square">
            <a:spAutoFit/>
          </a:bodyPr>
          <a:lstStyle/>
          <a:p>
            <a:pPr algn="l"/>
            <a:r>
              <a:rPr sz="850" b="0" i="1">
                <a:solidFill>
                  <a:srgbClr val="556B82"/>
                </a:solidFill>
              </a:rPr>
              <a:t>Adaptive Thinking Engine</a:t>
            </a:r>
          </a:p>
        </p:txBody>
      </p:sp>
      <p:sp>
        <p:nvSpPr>
          <p:cNvPr id="42" name="TextBox 41"/>
          <p:cNvSpPr txBox="1"/>
          <p:nvPr/>
        </p:nvSpPr>
        <p:spPr>
          <a:xfrm>
            <a:off x="4389120" y="4700016"/>
            <a:ext cx="3520439" cy="274320"/>
          </a:xfrm>
          <a:prstGeom prst="rect">
            <a:avLst/>
          </a:prstGeom>
          <a:noFill/>
        </p:spPr>
        <p:txBody>
          <a:bodyPr wrap="square">
            <a:spAutoFit/>
          </a:bodyPr>
          <a:lstStyle/>
          <a:p>
            <a:pPr algn="l"/>
            <a:r>
              <a:rPr sz="900" b="0" i="0">
                <a:solidFill>
                  <a:srgbClr val="CCD6E0"/>
                </a:solidFill>
              </a:rPr>
              <a:t>·  Accounting Analysis</a:t>
            </a:r>
          </a:p>
        </p:txBody>
      </p:sp>
      <p:sp>
        <p:nvSpPr>
          <p:cNvPr id="43" name="TextBox 42"/>
          <p:cNvSpPr txBox="1"/>
          <p:nvPr/>
        </p:nvSpPr>
        <p:spPr>
          <a:xfrm>
            <a:off x="4389120" y="5010912"/>
            <a:ext cx="3520439" cy="274320"/>
          </a:xfrm>
          <a:prstGeom prst="rect">
            <a:avLst/>
          </a:prstGeom>
          <a:noFill/>
        </p:spPr>
        <p:txBody>
          <a:bodyPr wrap="square">
            <a:spAutoFit/>
          </a:bodyPr>
          <a:lstStyle/>
          <a:p>
            <a:pPr algn="l"/>
            <a:r>
              <a:rPr sz="900" b="0" i="0">
                <a:solidFill>
                  <a:srgbClr val="CCD6E0"/>
                </a:solidFill>
              </a:rPr>
              <a:t>·  Policy Memos</a:t>
            </a:r>
          </a:p>
        </p:txBody>
      </p:sp>
      <p:sp>
        <p:nvSpPr>
          <p:cNvPr id="44" name="TextBox 43"/>
          <p:cNvSpPr txBox="1"/>
          <p:nvPr/>
        </p:nvSpPr>
        <p:spPr>
          <a:xfrm>
            <a:off x="4389120" y="5321807"/>
            <a:ext cx="3520439" cy="274320"/>
          </a:xfrm>
          <a:prstGeom prst="rect">
            <a:avLst/>
          </a:prstGeom>
          <a:noFill/>
        </p:spPr>
        <p:txBody>
          <a:bodyPr wrap="square">
            <a:spAutoFit/>
          </a:bodyPr>
          <a:lstStyle/>
          <a:p>
            <a:pPr algn="l"/>
            <a:r>
              <a:rPr sz="900" b="0" i="0">
                <a:solidFill>
                  <a:srgbClr val="CCD6E0"/>
                </a:solidFill>
              </a:rPr>
              <a:t>·  Board Reports</a:t>
            </a:r>
          </a:p>
        </p:txBody>
      </p:sp>
      <p:sp>
        <p:nvSpPr>
          <p:cNvPr id="45" name="TextBox 44"/>
          <p:cNvSpPr txBox="1"/>
          <p:nvPr/>
        </p:nvSpPr>
        <p:spPr>
          <a:xfrm>
            <a:off x="4389120" y="5632703"/>
            <a:ext cx="3520439" cy="274320"/>
          </a:xfrm>
          <a:prstGeom prst="rect">
            <a:avLst/>
          </a:prstGeom>
          <a:noFill/>
        </p:spPr>
        <p:txBody>
          <a:bodyPr wrap="square">
            <a:spAutoFit/>
          </a:bodyPr>
          <a:lstStyle/>
          <a:p>
            <a:pPr algn="l"/>
            <a:r>
              <a:rPr sz="900" b="0" i="0">
                <a:solidFill>
                  <a:srgbClr val="CCD6E0"/>
                </a:solidFill>
              </a:rPr>
              <a:t>·  Audit Memos</a:t>
            </a:r>
          </a:p>
        </p:txBody>
      </p:sp>
      <p:sp>
        <p:nvSpPr>
          <p:cNvPr id="46" name="Rounded Rectangle 45"/>
          <p:cNvSpPr/>
          <p:nvPr/>
        </p:nvSpPr>
        <p:spPr>
          <a:xfrm>
            <a:off x="8183879" y="3831335"/>
            <a:ext cx="3749039" cy="2331720"/>
          </a:xfrm>
          <a:prstGeom prst="roundRect">
            <a:avLst>
              <a:gd name="adj" fmla="val 8000"/>
            </a:avLst>
          </a:prstGeom>
          <a:solidFill>
            <a:srgbClr val="162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8183879" y="3831335"/>
            <a:ext cx="3749039" cy="45720"/>
          </a:xfrm>
          <a:prstGeom prst="rect">
            <a:avLst/>
          </a:prstGeom>
          <a:solidFill>
            <a:srgbClr val="FF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321040" y="3922775"/>
            <a:ext cx="3520439" cy="475488"/>
          </a:xfrm>
          <a:prstGeom prst="rect">
            <a:avLst/>
          </a:prstGeom>
          <a:noFill/>
        </p:spPr>
        <p:txBody>
          <a:bodyPr wrap="square">
            <a:spAutoFit/>
          </a:bodyPr>
          <a:lstStyle/>
          <a:p>
            <a:pPr algn="l"/>
            <a:r>
              <a:rPr sz="1300" b="1" i="0">
                <a:solidFill>
                  <a:srgbClr val="FFC800"/>
                </a:solidFill>
              </a:rPr>
              <a:t>📚  Standards Vector DB</a:t>
            </a:r>
          </a:p>
        </p:txBody>
      </p:sp>
      <p:sp>
        <p:nvSpPr>
          <p:cNvPr id="49" name="TextBox 48"/>
          <p:cNvSpPr txBox="1"/>
          <p:nvPr/>
        </p:nvSpPr>
        <p:spPr>
          <a:xfrm>
            <a:off x="8321040" y="4379975"/>
            <a:ext cx="3520439" cy="274320"/>
          </a:xfrm>
          <a:prstGeom prst="rect">
            <a:avLst/>
          </a:prstGeom>
          <a:noFill/>
        </p:spPr>
        <p:txBody>
          <a:bodyPr wrap="square">
            <a:spAutoFit/>
          </a:bodyPr>
          <a:lstStyle/>
          <a:p>
            <a:pPr algn="l"/>
            <a:r>
              <a:rPr sz="850" b="0" i="1">
                <a:solidFill>
                  <a:srgbClr val="556B82"/>
                </a:solidFill>
              </a:rPr>
              <a:t>IFRS/GAAP Knowledge Base</a:t>
            </a:r>
          </a:p>
        </p:txBody>
      </p:sp>
      <p:sp>
        <p:nvSpPr>
          <p:cNvPr id="50" name="TextBox 49"/>
          <p:cNvSpPr txBox="1"/>
          <p:nvPr/>
        </p:nvSpPr>
        <p:spPr>
          <a:xfrm>
            <a:off x="8321040" y="4700016"/>
            <a:ext cx="3520439" cy="274320"/>
          </a:xfrm>
          <a:prstGeom prst="rect">
            <a:avLst/>
          </a:prstGeom>
          <a:noFill/>
        </p:spPr>
        <p:txBody>
          <a:bodyPr wrap="square">
            <a:spAutoFit/>
          </a:bodyPr>
          <a:lstStyle/>
          <a:p>
            <a:pPr algn="l"/>
            <a:r>
              <a:rPr sz="900" b="0" i="0">
                <a:solidFill>
                  <a:srgbClr val="CCD6E0"/>
                </a:solidFill>
              </a:rPr>
              <a:t>·  IFRS 15, 16, 3, 9...</a:t>
            </a:r>
          </a:p>
        </p:txBody>
      </p:sp>
      <p:sp>
        <p:nvSpPr>
          <p:cNvPr id="51" name="TextBox 50"/>
          <p:cNvSpPr txBox="1"/>
          <p:nvPr/>
        </p:nvSpPr>
        <p:spPr>
          <a:xfrm>
            <a:off x="8321040" y="5010912"/>
            <a:ext cx="3520439" cy="274320"/>
          </a:xfrm>
          <a:prstGeom prst="rect">
            <a:avLst/>
          </a:prstGeom>
          <a:noFill/>
        </p:spPr>
        <p:txBody>
          <a:bodyPr wrap="square">
            <a:spAutoFit/>
          </a:bodyPr>
          <a:lstStyle/>
          <a:p>
            <a:pPr algn="l"/>
            <a:r>
              <a:rPr sz="900" b="0" i="0">
                <a:solidFill>
                  <a:srgbClr val="CCD6E0"/>
                </a:solidFill>
              </a:rPr>
              <a:t>·  ASC 606, 842, 740...</a:t>
            </a:r>
          </a:p>
        </p:txBody>
      </p:sp>
      <p:sp>
        <p:nvSpPr>
          <p:cNvPr id="52" name="TextBox 51"/>
          <p:cNvSpPr txBox="1"/>
          <p:nvPr/>
        </p:nvSpPr>
        <p:spPr>
          <a:xfrm>
            <a:off x="8321040" y="5321807"/>
            <a:ext cx="3520439" cy="274320"/>
          </a:xfrm>
          <a:prstGeom prst="rect">
            <a:avLst/>
          </a:prstGeom>
          <a:noFill/>
        </p:spPr>
        <p:txBody>
          <a:bodyPr wrap="square">
            <a:spAutoFit/>
          </a:bodyPr>
          <a:lstStyle/>
          <a:p>
            <a:pPr algn="l"/>
            <a:r>
              <a:rPr sz="900" b="0" i="0">
                <a:solidFill>
                  <a:srgbClr val="CCD6E0"/>
                </a:solidFill>
              </a:rPr>
              <a:t>·  Internal Policies</a:t>
            </a:r>
          </a:p>
        </p:txBody>
      </p:sp>
      <p:sp>
        <p:nvSpPr>
          <p:cNvPr id="53" name="TextBox 52"/>
          <p:cNvSpPr txBox="1"/>
          <p:nvPr/>
        </p:nvSpPr>
        <p:spPr>
          <a:xfrm>
            <a:off x="8321040" y="5632703"/>
            <a:ext cx="3520439" cy="274320"/>
          </a:xfrm>
          <a:prstGeom prst="rect">
            <a:avLst/>
          </a:prstGeom>
          <a:noFill/>
        </p:spPr>
        <p:txBody>
          <a:bodyPr wrap="square">
            <a:spAutoFit/>
          </a:bodyPr>
          <a:lstStyle/>
          <a:p>
            <a:pPr algn="l"/>
            <a:r>
              <a:rPr sz="900" b="0" i="0">
                <a:solidFill>
                  <a:srgbClr val="CCD6E0"/>
                </a:solidFill>
              </a:rPr>
              <a:t>·  APQC Benchmarks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73152" cy="6858000"/>
          </a:xfrm>
          <a:prstGeom prst="rect">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5486400" cy="347472"/>
          </a:xfrm>
          <a:prstGeom prst="rect">
            <a:avLst/>
          </a:prstGeom>
          <a:noFill/>
        </p:spPr>
        <p:txBody>
          <a:bodyPr wrap="square">
            <a:spAutoFit/>
          </a:bodyPr>
          <a:lstStyle/>
          <a:p>
            <a:pPr algn="l"/>
            <a:r>
              <a:rPr sz="1000" b="1" i="0">
                <a:solidFill>
                  <a:srgbClr val="10A37F"/>
                </a:solidFill>
              </a:rPr>
              <a:t>OPENCLAW ORCHESTRATOR</a:t>
            </a:r>
          </a:p>
        </p:txBody>
      </p:sp>
      <p:sp>
        <p:nvSpPr>
          <p:cNvPr id="4" name="TextBox 3"/>
          <p:cNvSpPr txBox="1"/>
          <p:nvPr/>
        </p:nvSpPr>
        <p:spPr>
          <a:xfrm>
            <a:off x="320040" y="475488"/>
            <a:ext cx="11430000" cy="658368"/>
          </a:xfrm>
          <a:prstGeom prst="rect">
            <a:avLst/>
          </a:prstGeom>
          <a:noFill/>
        </p:spPr>
        <p:txBody>
          <a:bodyPr wrap="square">
            <a:spAutoFit/>
          </a:bodyPr>
          <a:lstStyle/>
          <a:p>
            <a:pPr algn="l"/>
            <a:r>
              <a:rPr sz="2600" b="1" i="0">
                <a:solidFill>
                  <a:srgbClr val="FFFFFF"/>
                </a:solidFill>
              </a:rPr>
              <a:t>LangGraph-Compatible State Machine Workflow</a:t>
            </a:r>
          </a:p>
        </p:txBody>
      </p:sp>
      <p:sp>
        <p:nvSpPr>
          <p:cNvPr id="5" name="Rectangle 4"/>
          <p:cNvSpPr/>
          <p:nvPr/>
        </p:nvSpPr>
        <p:spPr>
          <a:xfrm>
            <a:off x="320040" y="1170432"/>
            <a:ext cx="11411712" cy="22860"/>
          </a:xfrm>
          <a:prstGeom prst="rect">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34339" y="1463040"/>
            <a:ext cx="1444752" cy="1188720"/>
          </a:xfrm>
          <a:prstGeom prst="roundRect">
            <a:avLst>
              <a:gd name="adj" fmla="val 8000"/>
            </a:avLst>
          </a:prstGeom>
          <a:solidFill>
            <a:srgbClr val="162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34339" y="1463040"/>
            <a:ext cx="1444752" cy="45720"/>
          </a:xfrm>
          <a:prstGeom prst="rect">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4339" y="1554480"/>
            <a:ext cx="1444752" cy="621792"/>
          </a:xfrm>
          <a:prstGeom prst="rect">
            <a:avLst/>
          </a:prstGeom>
          <a:noFill/>
        </p:spPr>
        <p:txBody>
          <a:bodyPr wrap="square">
            <a:spAutoFit/>
          </a:bodyPr>
          <a:lstStyle/>
          <a:p>
            <a:pPr algn="ctr"/>
            <a:r>
              <a:rPr sz="1100" b="1" i="0">
                <a:solidFill>
                  <a:srgbClr val="10A37F"/>
                </a:solidFill>
              </a:rPr>
              <a:t>START</a:t>
            </a:r>
          </a:p>
        </p:txBody>
      </p:sp>
      <p:sp>
        <p:nvSpPr>
          <p:cNvPr id="9" name="TextBox 8"/>
          <p:cNvSpPr txBox="1"/>
          <p:nvPr/>
        </p:nvSpPr>
        <p:spPr>
          <a:xfrm>
            <a:off x="434339" y="2148840"/>
            <a:ext cx="1444752" cy="457200"/>
          </a:xfrm>
          <a:prstGeom prst="rect">
            <a:avLst/>
          </a:prstGeom>
          <a:noFill/>
        </p:spPr>
        <p:txBody>
          <a:bodyPr wrap="square">
            <a:spAutoFit/>
          </a:bodyPr>
          <a:lstStyle/>
          <a:p>
            <a:pPr algn="ctr"/>
            <a:r>
              <a:rPr sz="750" b="0" i="0">
                <a:solidFill>
                  <a:srgbClr val="CCD6E0"/>
                </a:solidFill>
              </a:rPr>
              <a:t>Client request
received</a:t>
            </a:r>
          </a:p>
        </p:txBody>
      </p:sp>
      <p:sp>
        <p:nvSpPr>
          <p:cNvPr id="10" name="Can 9"/>
          <p:cNvSpPr/>
          <p:nvPr/>
        </p:nvSpPr>
        <p:spPr>
          <a:xfrm>
            <a:off x="1897379" y="1920240"/>
            <a:ext cx="164592" cy="201168"/>
          </a:xfrm>
          <a:prstGeom prst="can">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080259" y="1463040"/>
            <a:ext cx="1444752" cy="1188720"/>
          </a:xfrm>
          <a:prstGeom prst="roundRect">
            <a:avLst>
              <a:gd name="adj" fmla="val 8000"/>
            </a:avLst>
          </a:prstGeom>
          <a:solidFill>
            <a:srgbClr val="162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080259" y="1463040"/>
            <a:ext cx="1444752" cy="45720"/>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080259" y="1554480"/>
            <a:ext cx="1444752" cy="621792"/>
          </a:xfrm>
          <a:prstGeom prst="rect">
            <a:avLst/>
          </a:prstGeom>
          <a:noFill/>
        </p:spPr>
        <p:txBody>
          <a:bodyPr wrap="square">
            <a:spAutoFit/>
          </a:bodyPr>
          <a:lstStyle/>
          <a:p>
            <a:pPr algn="ctr"/>
            <a:r>
              <a:rPr sz="1100" b="1" i="0">
                <a:solidFill>
                  <a:srgbClr val="00C2FF"/>
                </a:solidFill>
              </a:rPr>
              <a:t>CLASSIFY
TASK</a:t>
            </a:r>
          </a:p>
        </p:txBody>
      </p:sp>
      <p:sp>
        <p:nvSpPr>
          <p:cNvPr id="14" name="TextBox 13"/>
          <p:cNvSpPr txBox="1"/>
          <p:nvPr/>
        </p:nvSpPr>
        <p:spPr>
          <a:xfrm>
            <a:off x="2080259" y="2148840"/>
            <a:ext cx="1444752" cy="457200"/>
          </a:xfrm>
          <a:prstGeom prst="rect">
            <a:avLst/>
          </a:prstGeom>
          <a:noFill/>
        </p:spPr>
        <p:txBody>
          <a:bodyPr wrap="square">
            <a:spAutoFit/>
          </a:bodyPr>
          <a:lstStyle/>
          <a:p>
            <a:pPr algn="ctr"/>
            <a:r>
              <a:rPr sz="750" b="0" i="0">
                <a:solidFill>
                  <a:srgbClr val="CCD6E0"/>
                </a:solidFill>
              </a:rPr>
              <a:t>OpenClaw identifies
task category</a:t>
            </a:r>
          </a:p>
        </p:txBody>
      </p:sp>
      <p:sp>
        <p:nvSpPr>
          <p:cNvPr id="15" name="Can 14"/>
          <p:cNvSpPr/>
          <p:nvPr/>
        </p:nvSpPr>
        <p:spPr>
          <a:xfrm>
            <a:off x="3543299" y="1920240"/>
            <a:ext cx="164592" cy="201168"/>
          </a:xfrm>
          <a:prstGeom prst="can">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3726179" y="1463040"/>
            <a:ext cx="1444752" cy="1188720"/>
          </a:xfrm>
          <a:prstGeom prst="roundRect">
            <a:avLst>
              <a:gd name="adj" fmla="val 8000"/>
            </a:avLst>
          </a:prstGeom>
          <a:solidFill>
            <a:srgbClr val="162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726179" y="1463040"/>
            <a:ext cx="1444752" cy="45720"/>
          </a:xfrm>
          <a:prstGeom prst="rect">
            <a:avLst/>
          </a:prstGeom>
          <a:solidFill>
            <a:srgbClr val="1B6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726179" y="1554480"/>
            <a:ext cx="1444752" cy="621792"/>
          </a:xfrm>
          <a:prstGeom prst="rect">
            <a:avLst/>
          </a:prstGeom>
          <a:noFill/>
        </p:spPr>
        <p:txBody>
          <a:bodyPr wrap="square">
            <a:spAutoFit/>
          </a:bodyPr>
          <a:lstStyle/>
          <a:p>
            <a:pPr algn="ctr"/>
            <a:r>
              <a:rPr sz="1100" b="1" i="0">
                <a:solidFill>
                  <a:srgbClr val="1B6CA8"/>
                </a:solidFill>
              </a:rPr>
              <a:t>ROUTE
AGENT</a:t>
            </a:r>
          </a:p>
        </p:txBody>
      </p:sp>
      <p:sp>
        <p:nvSpPr>
          <p:cNvPr id="19" name="TextBox 18"/>
          <p:cNvSpPr txBox="1"/>
          <p:nvPr/>
        </p:nvSpPr>
        <p:spPr>
          <a:xfrm>
            <a:off x="3726179" y="2148840"/>
            <a:ext cx="1444752" cy="457200"/>
          </a:xfrm>
          <a:prstGeom prst="rect">
            <a:avLst/>
          </a:prstGeom>
          <a:noFill/>
        </p:spPr>
        <p:txBody>
          <a:bodyPr wrap="square">
            <a:spAutoFit/>
          </a:bodyPr>
          <a:lstStyle/>
          <a:p>
            <a:pPr algn="ctr"/>
            <a:r>
              <a:rPr sz="750" b="0" i="0">
                <a:solidFill>
                  <a:srgbClr val="CCD6E0"/>
                </a:solidFill>
              </a:rPr>
              <a:t>Vector similarity
to agent registry</a:t>
            </a:r>
          </a:p>
        </p:txBody>
      </p:sp>
      <p:sp>
        <p:nvSpPr>
          <p:cNvPr id="20" name="Can 19"/>
          <p:cNvSpPr/>
          <p:nvPr/>
        </p:nvSpPr>
        <p:spPr>
          <a:xfrm>
            <a:off x="5189219" y="1920240"/>
            <a:ext cx="164592" cy="201168"/>
          </a:xfrm>
          <a:prstGeom prst="can">
            <a:avLst/>
          </a:prstGeom>
          <a:solidFill>
            <a:srgbClr val="1B6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5372100" y="1463040"/>
            <a:ext cx="1444752" cy="1188720"/>
          </a:xfrm>
          <a:prstGeom prst="roundRect">
            <a:avLst>
              <a:gd name="adj" fmla="val 8000"/>
            </a:avLst>
          </a:prstGeom>
          <a:solidFill>
            <a:srgbClr val="162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372100" y="1463040"/>
            <a:ext cx="1444752" cy="45720"/>
          </a:xfrm>
          <a:prstGeom prst="rect">
            <a:avLst/>
          </a:prstGeom>
          <a:solidFill>
            <a:srgbClr val="00D4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372100" y="1554480"/>
            <a:ext cx="1444752" cy="621792"/>
          </a:xfrm>
          <a:prstGeom prst="rect">
            <a:avLst/>
          </a:prstGeom>
          <a:noFill/>
        </p:spPr>
        <p:txBody>
          <a:bodyPr wrap="square">
            <a:spAutoFit/>
          </a:bodyPr>
          <a:lstStyle/>
          <a:p>
            <a:pPr algn="ctr"/>
            <a:r>
              <a:rPr sz="1100" b="1" i="0">
                <a:solidFill>
                  <a:srgbClr val="00D48A"/>
                </a:solidFill>
              </a:rPr>
              <a:t>EXECUTE
AGENT</a:t>
            </a:r>
          </a:p>
        </p:txBody>
      </p:sp>
      <p:sp>
        <p:nvSpPr>
          <p:cNvPr id="24" name="TextBox 23"/>
          <p:cNvSpPr txBox="1"/>
          <p:nvPr/>
        </p:nvSpPr>
        <p:spPr>
          <a:xfrm>
            <a:off x="5372100" y="2148840"/>
            <a:ext cx="1444752" cy="457200"/>
          </a:xfrm>
          <a:prstGeom prst="rect">
            <a:avLst/>
          </a:prstGeom>
          <a:noFill/>
        </p:spPr>
        <p:txBody>
          <a:bodyPr wrap="square">
            <a:spAutoFit/>
          </a:bodyPr>
          <a:lstStyle/>
          <a:p>
            <a:pPr algn="ctr"/>
            <a:r>
              <a:rPr sz="750" b="0" i="0">
                <a:solidFill>
                  <a:srgbClr val="CCD6E0"/>
                </a:solidFill>
              </a:rPr>
              <a:t>Primary + secondary
agents run</a:t>
            </a:r>
          </a:p>
        </p:txBody>
      </p:sp>
      <p:sp>
        <p:nvSpPr>
          <p:cNvPr id="25" name="Can 24"/>
          <p:cNvSpPr/>
          <p:nvPr/>
        </p:nvSpPr>
        <p:spPr>
          <a:xfrm>
            <a:off x="6835140" y="1920240"/>
            <a:ext cx="164592" cy="201168"/>
          </a:xfrm>
          <a:prstGeom prst="can">
            <a:avLst/>
          </a:prstGeom>
          <a:solidFill>
            <a:srgbClr val="00D4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7018020" y="1463040"/>
            <a:ext cx="1444752" cy="1188720"/>
          </a:xfrm>
          <a:prstGeom prst="roundRect">
            <a:avLst>
              <a:gd name="adj" fmla="val 8000"/>
            </a:avLst>
          </a:prstGeom>
          <a:solidFill>
            <a:srgbClr val="162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018020" y="1463040"/>
            <a:ext cx="1444752" cy="4572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018020" y="1554480"/>
            <a:ext cx="1444752" cy="621792"/>
          </a:xfrm>
          <a:prstGeom prst="rect">
            <a:avLst/>
          </a:prstGeom>
          <a:noFill/>
        </p:spPr>
        <p:txBody>
          <a:bodyPr wrap="square">
            <a:spAutoFit/>
          </a:bodyPr>
          <a:lstStyle/>
          <a:p>
            <a:pPr algn="ctr"/>
            <a:r>
              <a:rPr sz="1100" b="1" i="0">
                <a:solidFill>
                  <a:srgbClr val="FF8C00"/>
                </a:solidFill>
              </a:rPr>
              <a:t>TOOL
CALL</a:t>
            </a:r>
          </a:p>
        </p:txBody>
      </p:sp>
      <p:sp>
        <p:nvSpPr>
          <p:cNvPr id="29" name="TextBox 28"/>
          <p:cNvSpPr txBox="1"/>
          <p:nvPr/>
        </p:nvSpPr>
        <p:spPr>
          <a:xfrm>
            <a:off x="7018020" y="2148840"/>
            <a:ext cx="1444752" cy="457200"/>
          </a:xfrm>
          <a:prstGeom prst="rect">
            <a:avLst/>
          </a:prstGeom>
          <a:noFill/>
        </p:spPr>
        <p:txBody>
          <a:bodyPr wrap="square">
            <a:spAutoFit/>
          </a:bodyPr>
          <a:lstStyle/>
          <a:p>
            <a:pPr algn="ctr"/>
            <a:r>
              <a:rPr sz="750" b="0" i="0">
                <a:solidFill>
                  <a:srgbClr val="CCD6E0"/>
                </a:solidFill>
              </a:rPr>
              <a:t>Canva / Databricks /
Video / ERP-EPM</a:t>
            </a:r>
          </a:p>
        </p:txBody>
      </p:sp>
      <p:sp>
        <p:nvSpPr>
          <p:cNvPr id="30" name="Can 29"/>
          <p:cNvSpPr/>
          <p:nvPr/>
        </p:nvSpPr>
        <p:spPr>
          <a:xfrm>
            <a:off x="8481059" y="1920240"/>
            <a:ext cx="164592" cy="201168"/>
          </a:xfrm>
          <a:prstGeom prst="can">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663940" y="1463040"/>
            <a:ext cx="1444752" cy="1188720"/>
          </a:xfrm>
          <a:prstGeom prst="roundRect">
            <a:avLst>
              <a:gd name="adj" fmla="val 8000"/>
            </a:avLst>
          </a:prstGeom>
          <a:solidFill>
            <a:srgbClr val="162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663940" y="1463040"/>
            <a:ext cx="1444752" cy="45720"/>
          </a:xfrm>
          <a:prstGeom prst="rect">
            <a:avLst/>
          </a:prstGeom>
          <a:solidFill>
            <a:srgbClr val="8B3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663940" y="1554480"/>
            <a:ext cx="1444752" cy="621792"/>
          </a:xfrm>
          <a:prstGeom prst="rect">
            <a:avLst/>
          </a:prstGeom>
          <a:noFill/>
        </p:spPr>
        <p:txBody>
          <a:bodyPr wrap="square">
            <a:spAutoFit/>
          </a:bodyPr>
          <a:lstStyle/>
          <a:p>
            <a:pPr algn="ctr"/>
            <a:r>
              <a:rPr sz="1100" b="1" i="0">
                <a:solidFill>
                  <a:srgbClr val="8B3DFF"/>
                </a:solidFill>
              </a:rPr>
              <a:t>SYNTHESISE</a:t>
            </a:r>
          </a:p>
        </p:txBody>
      </p:sp>
      <p:sp>
        <p:nvSpPr>
          <p:cNvPr id="34" name="TextBox 33"/>
          <p:cNvSpPr txBox="1"/>
          <p:nvPr/>
        </p:nvSpPr>
        <p:spPr>
          <a:xfrm>
            <a:off x="8663940" y="2148840"/>
            <a:ext cx="1444752" cy="457200"/>
          </a:xfrm>
          <a:prstGeom prst="rect">
            <a:avLst/>
          </a:prstGeom>
          <a:noFill/>
        </p:spPr>
        <p:txBody>
          <a:bodyPr wrap="square">
            <a:spAutoFit/>
          </a:bodyPr>
          <a:lstStyle/>
          <a:p>
            <a:pPr algn="ctr"/>
            <a:r>
              <a:rPr sz="750" b="0" i="0">
                <a:solidFill>
                  <a:srgbClr val="CCD6E0"/>
                </a:solidFill>
              </a:rPr>
              <a:t>OpenClaw merges
multi-agent outputs</a:t>
            </a:r>
          </a:p>
        </p:txBody>
      </p:sp>
      <p:sp>
        <p:nvSpPr>
          <p:cNvPr id="35" name="Can 34"/>
          <p:cNvSpPr/>
          <p:nvPr/>
        </p:nvSpPr>
        <p:spPr>
          <a:xfrm>
            <a:off x="10126980" y="1920240"/>
            <a:ext cx="164592" cy="201168"/>
          </a:xfrm>
          <a:prstGeom prst="can">
            <a:avLst/>
          </a:prstGeom>
          <a:solidFill>
            <a:srgbClr val="8B3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10309860" y="1463040"/>
            <a:ext cx="1444752" cy="1188720"/>
          </a:xfrm>
          <a:prstGeom prst="roundRect">
            <a:avLst>
              <a:gd name="adj" fmla="val 8000"/>
            </a:avLst>
          </a:prstGeom>
          <a:solidFill>
            <a:srgbClr val="162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0309860" y="1463040"/>
            <a:ext cx="1444752" cy="45720"/>
          </a:xfrm>
          <a:prstGeom prst="rect">
            <a:avLst/>
          </a:prstGeom>
          <a:solidFill>
            <a:srgbClr val="FF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309860" y="1554480"/>
            <a:ext cx="1444752" cy="621792"/>
          </a:xfrm>
          <a:prstGeom prst="rect">
            <a:avLst/>
          </a:prstGeom>
          <a:noFill/>
        </p:spPr>
        <p:txBody>
          <a:bodyPr wrap="square">
            <a:spAutoFit/>
          </a:bodyPr>
          <a:lstStyle/>
          <a:p>
            <a:pPr algn="ctr"/>
            <a:r>
              <a:rPr sz="1100" b="1" i="0">
                <a:solidFill>
                  <a:srgbClr val="FFC800"/>
                </a:solidFill>
              </a:rPr>
              <a:t>DELIVER</a:t>
            </a:r>
          </a:p>
        </p:txBody>
      </p:sp>
      <p:sp>
        <p:nvSpPr>
          <p:cNvPr id="39" name="TextBox 38"/>
          <p:cNvSpPr txBox="1"/>
          <p:nvPr/>
        </p:nvSpPr>
        <p:spPr>
          <a:xfrm>
            <a:off x="10309860" y="2148840"/>
            <a:ext cx="1444752" cy="457200"/>
          </a:xfrm>
          <a:prstGeom prst="rect">
            <a:avLst/>
          </a:prstGeom>
          <a:noFill/>
        </p:spPr>
        <p:txBody>
          <a:bodyPr wrap="square">
            <a:spAutoFit/>
          </a:bodyPr>
          <a:lstStyle/>
          <a:p>
            <a:pPr algn="ctr"/>
            <a:r>
              <a:rPr sz="750" b="0" i="0">
                <a:solidFill>
                  <a:srgbClr val="CCD6E0"/>
                </a:solidFill>
              </a:rPr>
              <a:t>Board-ready
deliverable</a:t>
            </a:r>
          </a:p>
        </p:txBody>
      </p:sp>
      <p:sp>
        <p:nvSpPr>
          <p:cNvPr id="40" name="Rounded Rectangle 39"/>
          <p:cNvSpPr/>
          <p:nvPr/>
        </p:nvSpPr>
        <p:spPr>
          <a:xfrm>
            <a:off x="3703320" y="2926080"/>
            <a:ext cx="2286000" cy="713232"/>
          </a:xfrm>
          <a:prstGeom prst="roundRect">
            <a:avLst>
              <a:gd name="adj" fmla="val 8000"/>
            </a:avLst>
          </a:prstGeom>
          <a:solidFill>
            <a:srgbClr val="1A14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3703320" y="2926080"/>
            <a:ext cx="2286000" cy="36576"/>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749039" y="2962656"/>
            <a:ext cx="2194560" cy="621792"/>
          </a:xfrm>
          <a:prstGeom prst="rect">
            <a:avLst/>
          </a:prstGeom>
          <a:noFill/>
        </p:spPr>
        <p:txBody>
          <a:bodyPr wrap="square">
            <a:spAutoFit/>
          </a:bodyPr>
          <a:lstStyle/>
          <a:p>
            <a:pPr algn="l"/>
            <a:r>
              <a:rPr sz="850" b="0" i="0">
                <a:solidFill>
                  <a:srgbClr val="FF8C00"/>
                </a:solidFill>
              </a:rPr>
              <a:t>⚠  Human-in-the-Loop
Interrupt Gate (Optional)</a:t>
            </a:r>
          </a:p>
        </p:txBody>
      </p:sp>
      <p:sp>
        <p:nvSpPr>
          <p:cNvPr id="43" name="Down Arrow 42"/>
          <p:cNvSpPr/>
          <p:nvPr/>
        </p:nvSpPr>
        <p:spPr>
          <a:xfrm>
            <a:off x="4617720" y="2743200"/>
            <a:ext cx="164592" cy="182880"/>
          </a:xfrm>
          <a:prstGeom prst="downArrow">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320040" y="3886200"/>
            <a:ext cx="11521440" cy="1481328"/>
          </a:xfrm>
          <a:prstGeom prst="roundRect">
            <a:avLst>
              <a:gd name="adj" fmla="val 8000"/>
            </a:avLst>
          </a:prstGeom>
          <a:solidFill>
            <a:srgbClr val="162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320040" y="3886200"/>
            <a:ext cx="11521440" cy="36576"/>
          </a:xfrm>
          <a:prstGeom prst="rect">
            <a:avLst/>
          </a:prstGeom>
          <a:solidFill>
            <a:srgbClr val="556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02920" y="3950208"/>
            <a:ext cx="3657600" cy="274320"/>
          </a:xfrm>
          <a:prstGeom prst="rect">
            <a:avLst/>
          </a:prstGeom>
          <a:noFill/>
        </p:spPr>
        <p:txBody>
          <a:bodyPr wrap="square">
            <a:spAutoFit/>
          </a:bodyPr>
          <a:lstStyle/>
          <a:p>
            <a:pPr algn="l"/>
            <a:r>
              <a:rPr sz="800" b="1" i="0">
                <a:solidFill>
                  <a:srgbClr val="556B82"/>
                </a:solidFill>
              </a:rPr>
              <a:t>MEMORY LAYER</a:t>
            </a:r>
          </a:p>
        </p:txBody>
      </p:sp>
      <p:sp>
        <p:nvSpPr>
          <p:cNvPr id="47" name="TextBox 46"/>
          <p:cNvSpPr txBox="1"/>
          <p:nvPr/>
        </p:nvSpPr>
        <p:spPr>
          <a:xfrm>
            <a:off x="594360" y="4224528"/>
            <a:ext cx="2651760" cy="274320"/>
          </a:xfrm>
          <a:prstGeom prst="rect">
            <a:avLst/>
          </a:prstGeom>
          <a:noFill/>
        </p:spPr>
        <p:txBody>
          <a:bodyPr wrap="square">
            <a:spAutoFit/>
          </a:bodyPr>
          <a:lstStyle/>
          <a:p>
            <a:pPr algn="l"/>
            <a:r>
              <a:rPr sz="900" b="1" i="0">
                <a:solidFill>
                  <a:srgbClr val="00C2FF"/>
                </a:solidFill>
              </a:rPr>
              <a:t>Short-Term Memory</a:t>
            </a:r>
          </a:p>
        </p:txBody>
      </p:sp>
      <p:sp>
        <p:nvSpPr>
          <p:cNvPr id="48" name="TextBox 47"/>
          <p:cNvSpPr txBox="1"/>
          <p:nvPr/>
        </p:nvSpPr>
        <p:spPr>
          <a:xfrm>
            <a:off x="594360" y="4517136"/>
            <a:ext cx="2651760" cy="475488"/>
          </a:xfrm>
          <a:prstGeom prst="rect">
            <a:avLst/>
          </a:prstGeom>
          <a:noFill/>
        </p:spPr>
        <p:txBody>
          <a:bodyPr wrap="square">
            <a:spAutoFit/>
          </a:bodyPr>
          <a:lstStyle/>
          <a:p>
            <a:pPr algn="l"/>
            <a:r>
              <a:rPr sz="800" b="0" i="0">
                <a:solidFill>
                  <a:srgbClr val="CCD6E0"/>
                </a:solidFill>
              </a:rPr>
              <a:t>Active conversation context
and current task state</a:t>
            </a:r>
          </a:p>
        </p:txBody>
      </p:sp>
      <p:sp>
        <p:nvSpPr>
          <p:cNvPr id="49" name="TextBox 48"/>
          <p:cNvSpPr txBox="1"/>
          <p:nvPr/>
        </p:nvSpPr>
        <p:spPr>
          <a:xfrm>
            <a:off x="3520440" y="4224528"/>
            <a:ext cx="2651760" cy="274320"/>
          </a:xfrm>
          <a:prstGeom prst="rect">
            <a:avLst/>
          </a:prstGeom>
          <a:noFill/>
        </p:spPr>
        <p:txBody>
          <a:bodyPr wrap="square">
            <a:spAutoFit/>
          </a:bodyPr>
          <a:lstStyle/>
          <a:p>
            <a:pPr algn="l"/>
            <a:r>
              <a:rPr sz="900" b="1" i="0">
                <a:solidFill>
                  <a:srgbClr val="1B6CA8"/>
                </a:solidFill>
              </a:rPr>
              <a:t>Long-Term Memory</a:t>
            </a:r>
          </a:p>
        </p:txBody>
      </p:sp>
      <p:sp>
        <p:nvSpPr>
          <p:cNvPr id="50" name="TextBox 49"/>
          <p:cNvSpPr txBox="1"/>
          <p:nvPr/>
        </p:nvSpPr>
        <p:spPr>
          <a:xfrm>
            <a:off x="3520440" y="4517136"/>
            <a:ext cx="2651760" cy="475488"/>
          </a:xfrm>
          <a:prstGeom prst="rect">
            <a:avLst/>
          </a:prstGeom>
          <a:noFill/>
        </p:spPr>
        <p:txBody>
          <a:bodyPr wrap="square">
            <a:spAutoFit/>
          </a:bodyPr>
          <a:lstStyle/>
          <a:p>
            <a:pPr algn="l"/>
            <a:r>
              <a:rPr sz="800" b="0" i="0">
                <a:solidFill>
                  <a:srgbClr val="CCD6E0"/>
                </a:solidFill>
              </a:rPr>
              <a:t>Persisted to Databricks
Delta Lake</a:t>
            </a:r>
          </a:p>
        </p:txBody>
      </p:sp>
      <p:sp>
        <p:nvSpPr>
          <p:cNvPr id="51" name="TextBox 50"/>
          <p:cNvSpPr txBox="1"/>
          <p:nvPr/>
        </p:nvSpPr>
        <p:spPr>
          <a:xfrm>
            <a:off x="6446520" y="4224528"/>
            <a:ext cx="2651760" cy="274320"/>
          </a:xfrm>
          <a:prstGeom prst="rect">
            <a:avLst/>
          </a:prstGeom>
          <a:noFill/>
        </p:spPr>
        <p:txBody>
          <a:bodyPr wrap="square">
            <a:spAutoFit/>
          </a:bodyPr>
          <a:lstStyle/>
          <a:p>
            <a:pPr algn="l"/>
            <a:r>
              <a:rPr sz="900" b="1" i="0">
                <a:solidFill>
                  <a:srgbClr val="00D48A"/>
                </a:solidFill>
              </a:rPr>
              <a:t>Episodic Memory</a:t>
            </a:r>
          </a:p>
        </p:txBody>
      </p:sp>
      <p:sp>
        <p:nvSpPr>
          <p:cNvPr id="52" name="TextBox 51"/>
          <p:cNvSpPr txBox="1"/>
          <p:nvPr/>
        </p:nvSpPr>
        <p:spPr>
          <a:xfrm>
            <a:off x="6446520" y="4517136"/>
            <a:ext cx="2651760" cy="475488"/>
          </a:xfrm>
          <a:prstGeom prst="rect">
            <a:avLst/>
          </a:prstGeom>
          <a:noFill/>
        </p:spPr>
        <p:txBody>
          <a:bodyPr wrap="square">
            <a:spAutoFit/>
          </a:bodyPr>
          <a:lstStyle/>
          <a:p>
            <a:pPr algn="l"/>
            <a:r>
              <a:rPr sz="800" b="0" i="0">
                <a:solidFill>
                  <a:srgbClr val="CCD6E0"/>
                </a:solidFill>
              </a:rPr>
              <a:t>Key decisions, findings
and deliverable history</a:t>
            </a:r>
          </a:p>
        </p:txBody>
      </p:sp>
      <p:sp>
        <p:nvSpPr>
          <p:cNvPr id="53" name="TextBox 52"/>
          <p:cNvSpPr txBox="1"/>
          <p:nvPr/>
        </p:nvSpPr>
        <p:spPr>
          <a:xfrm>
            <a:off x="9372600" y="4224528"/>
            <a:ext cx="2651760" cy="274320"/>
          </a:xfrm>
          <a:prstGeom prst="rect">
            <a:avLst/>
          </a:prstGeom>
          <a:noFill/>
        </p:spPr>
        <p:txBody>
          <a:bodyPr wrap="square">
            <a:spAutoFit/>
          </a:bodyPr>
          <a:lstStyle/>
          <a:p>
            <a:pPr algn="l"/>
            <a:r>
              <a:rPr sz="900" b="1" i="0">
                <a:solidFill>
                  <a:srgbClr val="FF8C00"/>
                </a:solidFill>
              </a:rPr>
              <a:t>Standards RAG</a:t>
            </a:r>
          </a:p>
        </p:txBody>
      </p:sp>
      <p:sp>
        <p:nvSpPr>
          <p:cNvPr id="54" name="TextBox 53"/>
          <p:cNvSpPr txBox="1"/>
          <p:nvPr/>
        </p:nvSpPr>
        <p:spPr>
          <a:xfrm>
            <a:off x="9372600" y="4517136"/>
            <a:ext cx="2651760" cy="475488"/>
          </a:xfrm>
          <a:prstGeom prst="rect">
            <a:avLst/>
          </a:prstGeom>
          <a:noFill/>
        </p:spPr>
        <p:txBody>
          <a:bodyPr wrap="square">
            <a:spAutoFit/>
          </a:bodyPr>
          <a:lstStyle/>
          <a:p>
            <a:pPr algn="l"/>
            <a:r>
              <a:rPr sz="800" b="0" i="0">
                <a:solidFill>
                  <a:srgbClr val="CCD6E0"/>
                </a:solidFill>
              </a:rPr>
              <a:t>IFRS/GAAP knowledge base
via Vector Search</a:t>
            </a:r>
          </a:p>
        </p:txBody>
      </p:sp>
      <p:sp>
        <p:nvSpPr>
          <p:cNvPr id="55" name="Rounded Rectangle 54"/>
          <p:cNvSpPr/>
          <p:nvPr/>
        </p:nvSpPr>
        <p:spPr>
          <a:xfrm>
            <a:off x="320040" y="5577840"/>
            <a:ext cx="11521440" cy="960120"/>
          </a:xfrm>
          <a:prstGeom prst="roundRect">
            <a:avLst>
              <a:gd name="adj" fmla="val 8000"/>
            </a:avLst>
          </a:prstGeom>
          <a:solidFill>
            <a:srgbClr val="0A1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320040" y="5577840"/>
            <a:ext cx="11521440" cy="36576"/>
          </a:xfrm>
          <a:prstGeom prst="rect">
            <a:avLst/>
          </a:prstGeom>
          <a:solidFill>
            <a:srgbClr val="1B6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02920" y="5632704"/>
            <a:ext cx="11155680" cy="804672"/>
          </a:xfrm>
          <a:prstGeom prst="rect">
            <a:avLst/>
          </a:prstGeom>
          <a:noFill/>
        </p:spPr>
        <p:txBody>
          <a:bodyPr wrap="square">
            <a:spAutoFit/>
          </a:bodyPr>
          <a:lstStyle/>
          <a:p>
            <a:pPr algn="l"/>
            <a:r>
              <a:rPr sz="900" b="0" i="0">
                <a:solidFill>
                  <a:srgbClr val="CCD6E0"/>
                </a:solidFill>
              </a:rPr>
              <a:t>🔀  PARALLEL EXECUTION  —  Secondary agents run concurrently via ThreadPoolExecutor (4 workers). Human-in-the-loop gates trigger at material accounting decisions. All agent runs logged to MLflow for auditability.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73152" cy="6858000"/>
          </a:xfrm>
          <a:prstGeom prst="rect">
            <a:avLst/>
          </a:prstGeom>
          <a:solidFill>
            <a:srgbClr val="FF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4572000" cy="347472"/>
          </a:xfrm>
          <a:prstGeom prst="rect">
            <a:avLst/>
          </a:prstGeom>
          <a:noFill/>
        </p:spPr>
        <p:txBody>
          <a:bodyPr wrap="square">
            <a:spAutoFit/>
          </a:bodyPr>
          <a:lstStyle/>
          <a:p>
            <a:pPr algn="l"/>
            <a:r>
              <a:rPr sz="1000" b="1" i="0">
                <a:solidFill>
                  <a:srgbClr val="FFC800"/>
                </a:solidFill>
              </a:rPr>
              <a:t>1-WEEK DELIVERY MODEL</a:t>
            </a:r>
          </a:p>
        </p:txBody>
      </p:sp>
      <p:sp>
        <p:nvSpPr>
          <p:cNvPr id="4" name="TextBox 3"/>
          <p:cNvSpPr txBox="1"/>
          <p:nvPr/>
        </p:nvSpPr>
        <p:spPr>
          <a:xfrm>
            <a:off x="320040" y="475488"/>
            <a:ext cx="11430000" cy="658368"/>
          </a:xfrm>
          <a:prstGeom prst="rect">
            <a:avLst/>
          </a:prstGeom>
          <a:noFill/>
        </p:spPr>
        <p:txBody>
          <a:bodyPr wrap="square">
            <a:spAutoFit/>
          </a:bodyPr>
          <a:lstStyle/>
          <a:p>
            <a:pPr algn="l"/>
            <a:r>
              <a:rPr sz="2600" b="1" i="0">
                <a:solidFill>
                  <a:srgbClr val="FFFFFF"/>
                </a:solidFill>
              </a:rPr>
              <a:t>Full ERP/EPM Kickoff Package — Generated Automatically</a:t>
            </a:r>
          </a:p>
        </p:txBody>
      </p:sp>
      <p:sp>
        <p:nvSpPr>
          <p:cNvPr id="5" name="Rectangle 4"/>
          <p:cNvSpPr/>
          <p:nvPr/>
        </p:nvSpPr>
        <p:spPr>
          <a:xfrm>
            <a:off x="320040" y="1170432"/>
            <a:ext cx="11411712" cy="22860"/>
          </a:xfrm>
          <a:prstGeom prst="rect">
            <a:avLst/>
          </a:prstGeom>
          <a:solidFill>
            <a:srgbClr val="FF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320040" y="1298448"/>
            <a:ext cx="2212848" cy="5166360"/>
          </a:xfrm>
          <a:prstGeom prst="roundRect">
            <a:avLst>
              <a:gd name="adj" fmla="val 8000"/>
            </a:avLst>
          </a:prstGeom>
          <a:solidFill>
            <a:srgbClr val="162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 y="1298448"/>
            <a:ext cx="2212848" cy="457200"/>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1316736"/>
            <a:ext cx="2212848" cy="420624"/>
          </a:xfrm>
          <a:prstGeom prst="rect">
            <a:avLst/>
          </a:prstGeom>
          <a:noFill/>
        </p:spPr>
        <p:txBody>
          <a:bodyPr wrap="square">
            <a:spAutoFit/>
          </a:bodyPr>
          <a:lstStyle/>
          <a:p>
            <a:pPr algn="ctr"/>
            <a:r>
              <a:rPr sz="1400" b="1" i="0">
                <a:solidFill>
                  <a:srgbClr val="0D1B2A"/>
                </a:solidFill>
              </a:rPr>
              <a:t>DAY 1</a:t>
            </a:r>
          </a:p>
        </p:txBody>
      </p:sp>
      <p:sp>
        <p:nvSpPr>
          <p:cNvPr id="9" name="Rounded Rectangle 8"/>
          <p:cNvSpPr/>
          <p:nvPr/>
        </p:nvSpPr>
        <p:spPr>
          <a:xfrm>
            <a:off x="429768" y="1874519"/>
            <a:ext cx="1993391" cy="896112"/>
          </a:xfrm>
          <a:prstGeom prst="roundRect">
            <a:avLst>
              <a:gd name="adj" fmla="val 8000"/>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9768" y="1947672"/>
            <a:ext cx="1993391" cy="749808"/>
          </a:xfrm>
          <a:prstGeom prst="rect">
            <a:avLst/>
          </a:prstGeom>
          <a:noFill/>
        </p:spPr>
        <p:txBody>
          <a:bodyPr wrap="square">
            <a:spAutoFit/>
          </a:bodyPr>
          <a:lstStyle/>
          <a:p>
            <a:pPr algn="l"/>
            <a:r>
              <a:rPr sz="950" b="0" i="0">
                <a:solidFill>
                  <a:srgbClr val="00C2FF"/>
                </a:solidFill>
              </a:rPr>
              <a:t>Project Plan (XLSX)</a:t>
            </a:r>
          </a:p>
        </p:txBody>
      </p:sp>
      <p:sp>
        <p:nvSpPr>
          <p:cNvPr id="11" name="Rounded Rectangle 10"/>
          <p:cNvSpPr/>
          <p:nvPr/>
        </p:nvSpPr>
        <p:spPr>
          <a:xfrm>
            <a:off x="429768" y="2898648"/>
            <a:ext cx="1993391" cy="896112"/>
          </a:xfrm>
          <a:prstGeom prst="roundRect">
            <a:avLst>
              <a:gd name="adj" fmla="val 8000"/>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9768" y="2971800"/>
            <a:ext cx="1993391" cy="749808"/>
          </a:xfrm>
          <a:prstGeom prst="rect">
            <a:avLst/>
          </a:prstGeom>
          <a:noFill/>
        </p:spPr>
        <p:txBody>
          <a:bodyPr wrap="square">
            <a:spAutoFit/>
          </a:bodyPr>
          <a:lstStyle/>
          <a:p>
            <a:pPr algn="l"/>
            <a:r>
              <a:rPr sz="950" b="0" i="0">
                <a:solidFill>
                  <a:srgbClr val="00C2FF"/>
                </a:solidFill>
              </a:rPr>
              <a:t>Stakeholder Interviews</a:t>
            </a:r>
          </a:p>
        </p:txBody>
      </p:sp>
      <p:sp>
        <p:nvSpPr>
          <p:cNvPr id="13" name="Rounded Rectangle 12"/>
          <p:cNvSpPr/>
          <p:nvPr/>
        </p:nvSpPr>
        <p:spPr>
          <a:xfrm>
            <a:off x="429768" y="3922776"/>
            <a:ext cx="1993391" cy="896112"/>
          </a:xfrm>
          <a:prstGeom prst="roundRect">
            <a:avLst>
              <a:gd name="adj" fmla="val 8000"/>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9768" y="3995928"/>
            <a:ext cx="1993391" cy="749808"/>
          </a:xfrm>
          <a:prstGeom prst="rect">
            <a:avLst/>
          </a:prstGeom>
          <a:noFill/>
        </p:spPr>
        <p:txBody>
          <a:bodyPr wrap="square">
            <a:spAutoFit/>
          </a:bodyPr>
          <a:lstStyle/>
          <a:p>
            <a:pPr algn="l"/>
            <a:r>
              <a:rPr sz="950" b="0" i="0">
                <a:solidFill>
                  <a:srgbClr val="00C2FF"/>
                </a:solidFill>
              </a:rPr>
              <a:t>Current State Baseline</a:t>
            </a:r>
          </a:p>
        </p:txBody>
      </p:sp>
      <p:sp>
        <p:nvSpPr>
          <p:cNvPr id="15" name="Rounded Rectangle 14"/>
          <p:cNvSpPr/>
          <p:nvPr/>
        </p:nvSpPr>
        <p:spPr>
          <a:xfrm>
            <a:off x="429768" y="4946904"/>
            <a:ext cx="1993391" cy="896112"/>
          </a:xfrm>
          <a:prstGeom prst="roundRect">
            <a:avLst>
              <a:gd name="adj" fmla="val 8000"/>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29768" y="5020056"/>
            <a:ext cx="1993391" cy="749808"/>
          </a:xfrm>
          <a:prstGeom prst="rect">
            <a:avLst/>
          </a:prstGeom>
          <a:noFill/>
        </p:spPr>
        <p:txBody>
          <a:bodyPr wrap="square">
            <a:spAutoFit/>
          </a:bodyPr>
          <a:lstStyle/>
          <a:p>
            <a:pPr algn="l"/>
            <a:r>
              <a:rPr sz="950" b="0" i="0">
                <a:solidFill>
                  <a:srgbClr val="00C2FF"/>
                </a:solidFill>
              </a:rPr>
              <a:t>Standards RAG Setup</a:t>
            </a:r>
          </a:p>
        </p:txBody>
      </p:sp>
      <p:sp>
        <p:nvSpPr>
          <p:cNvPr id="17" name="Can 16"/>
          <p:cNvSpPr/>
          <p:nvPr/>
        </p:nvSpPr>
        <p:spPr>
          <a:xfrm>
            <a:off x="2542032" y="2606040"/>
            <a:ext cx="73152" cy="182880"/>
          </a:xfrm>
          <a:prstGeom prst="can">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2624328" y="1298448"/>
            <a:ext cx="2212848" cy="5166360"/>
          </a:xfrm>
          <a:prstGeom prst="roundRect">
            <a:avLst>
              <a:gd name="adj" fmla="val 8000"/>
            </a:avLst>
          </a:prstGeom>
          <a:solidFill>
            <a:srgbClr val="162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624328" y="1298448"/>
            <a:ext cx="2212848" cy="457200"/>
          </a:xfrm>
          <a:prstGeom prst="rect">
            <a:avLst/>
          </a:prstGeom>
          <a:solidFill>
            <a:srgbClr val="1B6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624328" y="1316736"/>
            <a:ext cx="2212848" cy="420624"/>
          </a:xfrm>
          <a:prstGeom prst="rect">
            <a:avLst/>
          </a:prstGeom>
          <a:noFill/>
        </p:spPr>
        <p:txBody>
          <a:bodyPr wrap="square">
            <a:spAutoFit/>
          </a:bodyPr>
          <a:lstStyle/>
          <a:p>
            <a:pPr algn="ctr"/>
            <a:r>
              <a:rPr sz="1400" b="1" i="0">
                <a:solidFill>
                  <a:srgbClr val="0D1B2A"/>
                </a:solidFill>
              </a:rPr>
              <a:t>DAY 2</a:t>
            </a:r>
          </a:p>
        </p:txBody>
      </p:sp>
      <p:sp>
        <p:nvSpPr>
          <p:cNvPr id="21" name="Rounded Rectangle 20"/>
          <p:cNvSpPr/>
          <p:nvPr/>
        </p:nvSpPr>
        <p:spPr>
          <a:xfrm>
            <a:off x="2734056" y="1874519"/>
            <a:ext cx="1993391" cy="896112"/>
          </a:xfrm>
          <a:prstGeom prst="roundRect">
            <a:avLst>
              <a:gd name="adj" fmla="val 8000"/>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734056" y="1947672"/>
            <a:ext cx="1993391" cy="749808"/>
          </a:xfrm>
          <a:prstGeom prst="rect">
            <a:avLst/>
          </a:prstGeom>
          <a:noFill/>
        </p:spPr>
        <p:txBody>
          <a:bodyPr wrap="square">
            <a:spAutoFit/>
          </a:bodyPr>
          <a:lstStyle/>
          <a:p>
            <a:pPr algn="l"/>
            <a:r>
              <a:rPr sz="950" b="0" i="0">
                <a:solidFill>
                  <a:srgbClr val="1B6CA8"/>
                </a:solidFill>
              </a:rPr>
              <a:t>COA Design Document</a:t>
            </a:r>
          </a:p>
        </p:txBody>
      </p:sp>
      <p:sp>
        <p:nvSpPr>
          <p:cNvPr id="23" name="Rounded Rectangle 22"/>
          <p:cNvSpPr/>
          <p:nvPr/>
        </p:nvSpPr>
        <p:spPr>
          <a:xfrm>
            <a:off x="2734056" y="2898648"/>
            <a:ext cx="1993391" cy="896112"/>
          </a:xfrm>
          <a:prstGeom prst="roundRect">
            <a:avLst>
              <a:gd name="adj" fmla="val 8000"/>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734056" y="2971800"/>
            <a:ext cx="1993391" cy="749808"/>
          </a:xfrm>
          <a:prstGeom prst="rect">
            <a:avLst/>
          </a:prstGeom>
          <a:noFill/>
        </p:spPr>
        <p:txBody>
          <a:bodyPr wrap="square">
            <a:spAutoFit/>
          </a:bodyPr>
          <a:lstStyle/>
          <a:p>
            <a:pPr algn="l"/>
            <a:r>
              <a:rPr sz="950" b="0" i="0">
                <a:solidFill>
                  <a:srgbClr val="1B6CA8"/>
                </a:solidFill>
              </a:rPr>
              <a:t>Gap/Fit Analysis</a:t>
            </a:r>
          </a:p>
        </p:txBody>
      </p:sp>
      <p:sp>
        <p:nvSpPr>
          <p:cNvPr id="25" name="Rounded Rectangle 24"/>
          <p:cNvSpPr/>
          <p:nvPr/>
        </p:nvSpPr>
        <p:spPr>
          <a:xfrm>
            <a:off x="2734056" y="3922776"/>
            <a:ext cx="1993391" cy="896112"/>
          </a:xfrm>
          <a:prstGeom prst="roundRect">
            <a:avLst>
              <a:gd name="adj" fmla="val 8000"/>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734056" y="3995928"/>
            <a:ext cx="1993391" cy="749808"/>
          </a:xfrm>
          <a:prstGeom prst="rect">
            <a:avLst/>
          </a:prstGeom>
          <a:noFill/>
        </p:spPr>
        <p:txBody>
          <a:bodyPr wrap="square">
            <a:spAutoFit/>
          </a:bodyPr>
          <a:lstStyle/>
          <a:p>
            <a:pPr algn="l"/>
            <a:r>
              <a:rPr sz="950" b="0" i="0">
                <a:solidFill>
                  <a:srgbClr val="1B6CA8"/>
                </a:solidFill>
              </a:rPr>
              <a:t>Process Maps (R2R/O2C/P2P)</a:t>
            </a:r>
          </a:p>
        </p:txBody>
      </p:sp>
      <p:sp>
        <p:nvSpPr>
          <p:cNvPr id="27" name="Rounded Rectangle 26"/>
          <p:cNvSpPr/>
          <p:nvPr/>
        </p:nvSpPr>
        <p:spPr>
          <a:xfrm>
            <a:off x="2734056" y="4946904"/>
            <a:ext cx="1993391" cy="896112"/>
          </a:xfrm>
          <a:prstGeom prst="roundRect">
            <a:avLst>
              <a:gd name="adj" fmla="val 8000"/>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734056" y="5020056"/>
            <a:ext cx="1993391" cy="749808"/>
          </a:xfrm>
          <a:prstGeom prst="rect">
            <a:avLst/>
          </a:prstGeom>
          <a:noFill/>
        </p:spPr>
        <p:txBody>
          <a:bodyPr wrap="square">
            <a:spAutoFit/>
          </a:bodyPr>
          <a:lstStyle/>
          <a:p>
            <a:pPr algn="l"/>
            <a:r>
              <a:rPr sz="950" b="0" i="0">
                <a:solidFill>
                  <a:srgbClr val="1B6CA8"/>
                </a:solidFill>
              </a:rPr>
              <a:t>Solution Architecture</a:t>
            </a:r>
          </a:p>
        </p:txBody>
      </p:sp>
      <p:sp>
        <p:nvSpPr>
          <p:cNvPr id="29" name="Can 28"/>
          <p:cNvSpPr/>
          <p:nvPr/>
        </p:nvSpPr>
        <p:spPr>
          <a:xfrm>
            <a:off x="4846320" y="2606040"/>
            <a:ext cx="73152" cy="182880"/>
          </a:xfrm>
          <a:prstGeom prst="can">
            <a:avLst/>
          </a:prstGeom>
          <a:solidFill>
            <a:srgbClr val="1B6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4928616" y="1298448"/>
            <a:ext cx="2212848" cy="5166360"/>
          </a:xfrm>
          <a:prstGeom prst="roundRect">
            <a:avLst>
              <a:gd name="adj" fmla="val 8000"/>
            </a:avLst>
          </a:prstGeom>
          <a:solidFill>
            <a:srgbClr val="162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928616" y="1298448"/>
            <a:ext cx="2212848" cy="457200"/>
          </a:xfrm>
          <a:prstGeom prst="rect">
            <a:avLst/>
          </a:prstGeom>
          <a:solidFill>
            <a:srgbClr val="00D4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928616" y="1316736"/>
            <a:ext cx="2212848" cy="420624"/>
          </a:xfrm>
          <a:prstGeom prst="rect">
            <a:avLst/>
          </a:prstGeom>
          <a:noFill/>
        </p:spPr>
        <p:txBody>
          <a:bodyPr wrap="square">
            <a:spAutoFit/>
          </a:bodyPr>
          <a:lstStyle/>
          <a:p>
            <a:pPr algn="ctr"/>
            <a:r>
              <a:rPr sz="1400" b="1" i="0">
                <a:solidFill>
                  <a:srgbClr val="0D1B2A"/>
                </a:solidFill>
              </a:rPr>
              <a:t>DAY 3</a:t>
            </a:r>
          </a:p>
        </p:txBody>
      </p:sp>
      <p:sp>
        <p:nvSpPr>
          <p:cNvPr id="33" name="Rounded Rectangle 32"/>
          <p:cNvSpPr/>
          <p:nvPr/>
        </p:nvSpPr>
        <p:spPr>
          <a:xfrm>
            <a:off x="5038344" y="1874519"/>
            <a:ext cx="1993391" cy="896112"/>
          </a:xfrm>
          <a:prstGeom prst="roundRect">
            <a:avLst>
              <a:gd name="adj" fmla="val 8000"/>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38344" y="1947672"/>
            <a:ext cx="1993391" cy="749808"/>
          </a:xfrm>
          <a:prstGeom prst="rect">
            <a:avLst/>
          </a:prstGeom>
          <a:noFill/>
        </p:spPr>
        <p:txBody>
          <a:bodyPr wrap="square">
            <a:spAutoFit/>
          </a:bodyPr>
          <a:lstStyle/>
          <a:p>
            <a:pPr algn="l"/>
            <a:r>
              <a:rPr sz="950" b="0" i="0">
                <a:solidFill>
                  <a:srgbClr val="00D48A"/>
                </a:solidFill>
              </a:rPr>
              <a:t>EPM Requirements Doc</a:t>
            </a:r>
          </a:p>
        </p:txBody>
      </p:sp>
      <p:sp>
        <p:nvSpPr>
          <p:cNvPr id="35" name="Rounded Rectangle 34"/>
          <p:cNvSpPr/>
          <p:nvPr/>
        </p:nvSpPr>
        <p:spPr>
          <a:xfrm>
            <a:off x="5038344" y="2898648"/>
            <a:ext cx="1993391" cy="896112"/>
          </a:xfrm>
          <a:prstGeom prst="roundRect">
            <a:avLst>
              <a:gd name="adj" fmla="val 8000"/>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038344" y="2971800"/>
            <a:ext cx="1993391" cy="749808"/>
          </a:xfrm>
          <a:prstGeom prst="rect">
            <a:avLst/>
          </a:prstGeom>
          <a:noFill/>
        </p:spPr>
        <p:txBody>
          <a:bodyPr wrap="square">
            <a:spAutoFit/>
          </a:bodyPr>
          <a:lstStyle/>
          <a:p>
            <a:pPr algn="l"/>
            <a:r>
              <a:rPr sz="950" b="0" i="0">
                <a:solidFill>
                  <a:srgbClr val="00D48A"/>
                </a:solidFill>
              </a:rPr>
              <a:t>WFP Model Design</a:t>
            </a:r>
          </a:p>
        </p:txBody>
      </p:sp>
      <p:sp>
        <p:nvSpPr>
          <p:cNvPr id="37" name="Rounded Rectangle 36"/>
          <p:cNvSpPr/>
          <p:nvPr/>
        </p:nvSpPr>
        <p:spPr>
          <a:xfrm>
            <a:off x="5038344" y="3922776"/>
            <a:ext cx="1993391" cy="896112"/>
          </a:xfrm>
          <a:prstGeom prst="roundRect">
            <a:avLst>
              <a:gd name="adj" fmla="val 8000"/>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038344" y="3995928"/>
            <a:ext cx="1993391" cy="749808"/>
          </a:xfrm>
          <a:prstGeom prst="rect">
            <a:avLst/>
          </a:prstGeom>
          <a:noFill/>
        </p:spPr>
        <p:txBody>
          <a:bodyPr wrap="square">
            <a:spAutoFit/>
          </a:bodyPr>
          <a:lstStyle/>
          <a:p>
            <a:pPr algn="l"/>
            <a:r>
              <a:rPr sz="950" b="0" i="0">
                <a:solidFill>
                  <a:srgbClr val="00D48A"/>
                </a:solidFill>
              </a:rPr>
              <a:t>Data Migration Templates</a:t>
            </a:r>
          </a:p>
        </p:txBody>
      </p:sp>
      <p:sp>
        <p:nvSpPr>
          <p:cNvPr id="39" name="Rounded Rectangle 38"/>
          <p:cNvSpPr/>
          <p:nvPr/>
        </p:nvSpPr>
        <p:spPr>
          <a:xfrm>
            <a:off x="5038344" y="4946904"/>
            <a:ext cx="1993391" cy="896112"/>
          </a:xfrm>
          <a:prstGeom prst="roundRect">
            <a:avLst>
              <a:gd name="adj" fmla="val 8000"/>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038344" y="5020056"/>
            <a:ext cx="1993391" cy="749808"/>
          </a:xfrm>
          <a:prstGeom prst="rect">
            <a:avLst/>
          </a:prstGeom>
          <a:noFill/>
        </p:spPr>
        <p:txBody>
          <a:bodyPr wrap="square">
            <a:spAutoFit/>
          </a:bodyPr>
          <a:lstStyle/>
          <a:p>
            <a:pPr algn="l"/>
            <a:r>
              <a:rPr sz="950" b="0" i="0">
                <a:solidFill>
                  <a:srgbClr val="00D48A"/>
                </a:solidFill>
              </a:rPr>
              <a:t>Integration Inventory</a:t>
            </a:r>
          </a:p>
        </p:txBody>
      </p:sp>
      <p:sp>
        <p:nvSpPr>
          <p:cNvPr id="41" name="Can 40"/>
          <p:cNvSpPr/>
          <p:nvPr/>
        </p:nvSpPr>
        <p:spPr>
          <a:xfrm>
            <a:off x="7150607" y="2606040"/>
            <a:ext cx="73152" cy="182880"/>
          </a:xfrm>
          <a:prstGeom prst="can">
            <a:avLst/>
          </a:prstGeom>
          <a:solidFill>
            <a:srgbClr val="00D4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7232904" y="1298448"/>
            <a:ext cx="2212848" cy="5166360"/>
          </a:xfrm>
          <a:prstGeom prst="roundRect">
            <a:avLst>
              <a:gd name="adj" fmla="val 8000"/>
            </a:avLst>
          </a:prstGeom>
          <a:solidFill>
            <a:srgbClr val="162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232904" y="1298448"/>
            <a:ext cx="2212848" cy="45720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232904" y="1316736"/>
            <a:ext cx="2212848" cy="420624"/>
          </a:xfrm>
          <a:prstGeom prst="rect">
            <a:avLst/>
          </a:prstGeom>
          <a:noFill/>
        </p:spPr>
        <p:txBody>
          <a:bodyPr wrap="square">
            <a:spAutoFit/>
          </a:bodyPr>
          <a:lstStyle/>
          <a:p>
            <a:pPr algn="ctr"/>
            <a:r>
              <a:rPr sz="1400" b="1" i="0">
                <a:solidFill>
                  <a:srgbClr val="0D1B2A"/>
                </a:solidFill>
              </a:rPr>
              <a:t>DAY 4</a:t>
            </a:r>
          </a:p>
        </p:txBody>
      </p:sp>
      <p:sp>
        <p:nvSpPr>
          <p:cNvPr id="45" name="Rounded Rectangle 44"/>
          <p:cNvSpPr/>
          <p:nvPr/>
        </p:nvSpPr>
        <p:spPr>
          <a:xfrm>
            <a:off x="7342631" y="1874519"/>
            <a:ext cx="1993391" cy="896112"/>
          </a:xfrm>
          <a:prstGeom prst="roundRect">
            <a:avLst>
              <a:gd name="adj" fmla="val 8000"/>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342631" y="1947672"/>
            <a:ext cx="1993391" cy="749808"/>
          </a:xfrm>
          <a:prstGeom prst="rect">
            <a:avLst/>
          </a:prstGeom>
          <a:noFill/>
        </p:spPr>
        <p:txBody>
          <a:bodyPr wrap="square">
            <a:spAutoFit/>
          </a:bodyPr>
          <a:lstStyle/>
          <a:p>
            <a:pPr algn="l"/>
            <a:r>
              <a:rPr sz="950" b="0" i="0">
                <a:solidFill>
                  <a:srgbClr val="FF8C00"/>
                </a:solidFill>
              </a:rPr>
              <a:t>Exec Presentation (Canva)</a:t>
            </a:r>
          </a:p>
        </p:txBody>
      </p:sp>
      <p:sp>
        <p:nvSpPr>
          <p:cNvPr id="47" name="Rounded Rectangle 46"/>
          <p:cNvSpPr/>
          <p:nvPr/>
        </p:nvSpPr>
        <p:spPr>
          <a:xfrm>
            <a:off x="7342631" y="2898648"/>
            <a:ext cx="1993391" cy="896112"/>
          </a:xfrm>
          <a:prstGeom prst="roundRect">
            <a:avLst>
              <a:gd name="adj" fmla="val 8000"/>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342631" y="2971800"/>
            <a:ext cx="1993391" cy="749808"/>
          </a:xfrm>
          <a:prstGeom prst="rect">
            <a:avLst/>
          </a:prstGeom>
          <a:noFill/>
        </p:spPr>
        <p:txBody>
          <a:bodyPr wrap="square">
            <a:spAutoFit/>
          </a:bodyPr>
          <a:lstStyle/>
          <a:p>
            <a:pPr algn="l"/>
            <a:r>
              <a:rPr sz="950" b="0" i="0">
                <a:solidFill>
                  <a:srgbClr val="FF8C00"/>
                </a:solidFill>
              </a:rPr>
              <a:t>CFO Dashboard Mockup</a:t>
            </a:r>
          </a:p>
        </p:txBody>
      </p:sp>
      <p:sp>
        <p:nvSpPr>
          <p:cNvPr id="49" name="Rounded Rectangle 48"/>
          <p:cNvSpPr/>
          <p:nvPr/>
        </p:nvSpPr>
        <p:spPr>
          <a:xfrm>
            <a:off x="7342631" y="3922776"/>
            <a:ext cx="1993391" cy="896112"/>
          </a:xfrm>
          <a:prstGeom prst="roundRect">
            <a:avLst>
              <a:gd name="adj" fmla="val 8000"/>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342631" y="3995928"/>
            <a:ext cx="1993391" cy="749808"/>
          </a:xfrm>
          <a:prstGeom prst="rect">
            <a:avLst/>
          </a:prstGeom>
          <a:noFill/>
        </p:spPr>
        <p:txBody>
          <a:bodyPr wrap="square">
            <a:spAutoFit/>
          </a:bodyPr>
          <a:lstStyle/>
          <a:p>
            <a:pPr algn="l"/>
            <a:r>
              <a:rPr sz="950" b="0" i="0">
                <a:solidFill>
                  <a:srgbClr val="FF8C00"/>
                </a:solidFill>
              </a:rPr>
              <a:t>Animated Roadmap Video</a:t>
            </a:r>
          </a:p>
        </p:txBody>
      </p:sp>
      <p:sp>
        <p:nvSpPr>
          <p:cNvPr id="51" name="Rounded Rectangle 50"/>
          <p:cNvSpPr/>
          <p:nvPr/>
        </p:nvSpPr>
        <p:spPr>
          <a:xfrm>
            <a:off x="7342631" y="4946904"/>
            <a:ext cx="1993391" cy="896112"/>
          </a:xfrm>
          <a:prstGeom prst="roundRect">
            <a:avLst>
              <a:gd name="adj" fmla="val 8000"/>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342631" y="5020056"/>
            <a:ext cx="1993391" cy="749808"/>
          </a:xfrm>
          <a:prstGeom prst="rect">
            <a:avLst/>
          </a:prstGeom>
          <a:noFill/>
        </p:spPr>
        <p:txBody>
          <a:bodyPr wrap="square">
            <a:spAutoFit/>
          </a:bodyPr>
          <a:lstStyle/>
          <a:p>
            <a:pPr algn="l"/>
            <a:r>
              <a:rPr sz="950" b="0" i="0">
                <a:solidFill>
                  <a:srgbClr val="FF8C00"/>
                </a:solidFill>
              </a:rPr>
              <a:t>Business Case Model</a:t>
            </a:r>
          </a:p>
        </p:txBody>
      </p:sp>
      <p:sp>
        <p:nvSpPr>
          <p:cNvPr id="53" name="Can 52"/>
          <p:cNvSpPr/>
          <p:nvPr/>
        </p:nvSpPr>
        <p:spPr>
          <a:xfrm>
            <a:off x="9454896" y="2606040"/>
            <a:ext cx="73152" cy="182880"/>
          </a:xfrm>
          <a:prstGeom prst="can">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ounded Rectangle 53"/>
          <p:cNvSpPr/>
          <p:nvPr/>
        </p:nvSpPr>
        <p:spPr>
          <a:xfrm>
            <a:off x="9537192" y="1298448"/>
            <a:ext cx="2212848" cy="5166360"/>
          </a:xfrm>
          <a:prstGeom prst="roundRect">
            <a:avLst>
              <a:gd name="adj" fmla="val 8000"/>
            </a:avLst>
          </a:prstGeom>
          <a:solidFill>
            <a:srgbClr val="162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9537192" y="1298448"/>
            <a:ext cx="2212848" cy="457200"/>
          </a:xfrm>
          <a:prstGeom prst="rect">
            <a:avLst/>
          </a:prstGeom>
          <a:solidFill>
            <a:srgbClr val="8B3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537192" y="1316736"/>
            <a:ext cx="2212848" cy="420624"/>
          </a:xfrm>
          <a:prstGeom prst="rect">
            <a:avLst/>
          </a:prstGeom>
          <a:noFill/>
        </p:spPr>
        <p:txBody>
          <a:bodyPr wrap="square">
            <a:spAutoFit/>
          </a:bodyPr>
          <a:lstStyle/>
          <a:p>
            <a:pPr algn="ctr"/>
            <a:r>
              <a:rPr sz="1400" b="1" i="0">
                <a:solidFill>
                  <a:srgbClr val="0D1B2A"/>
                </a:solidFill>
              </a:rPr>
              <a:t>DAY 5</a:t>
            </a:r>
          </a:p>
        </p:txBody>
      </p:sp>
      <p:sp>
        <p:nvSpPr>
          <p:cNvPr id="57" name="Rounded Rectangle 56"/>
          <p:cNvSpPr/>
          <p:nvPr/>
        </p:nvSpPr>
        <p:spPr>
          <a:xfrm>
            <a:off x="9646919" y="1874519"/>
            <a:ext cx="1993391" cy="896112"/>
          </a:xfrm>
          <a:prstGeom prst="roundRect">
            <a:avLst>
              <a:gd name="adj" fmla="val 8000"/>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646919" y="1947672"/>
            <a:ext cx="1993391" cy="749808"/>
          </a:xfrm>
          <a:prstGeom prst="rect">
            <a:avLst/>
          </a:prstGeom>
          <a:noFill/>
        </p:spPr>
        <p:txBody>
          <a:bodyPr wrap="square">
            <a:spAutoFit/>
          </a:bodyPr>
          <a:lstStyle/>
          <a:p>
            <a:pPr algn="l"/>
            <a:r>
              <a:rPr sz="950" b="0" i="0">
                <a:solidFill>
                  <a:srgbClr val="8B3DFF"/>
                </a:solidFill>
              </a:rPr>
              <a:t>Board Pack (PDF/PPTX)</a:t>
            </a:r>
          </a:p>
        </p:txBody>
      </p:sp>
      <p:sp>
        <p:nvSpPr>
          <p:cNvPr id="59" name="Rounded Rectangle 58"/>
          <p:cNvSpPr/>
          <p:nvPr/>
        </p:nvSpPr>
        <p:spPr>
          <a:xfrm>
            <a:off x="9646919" y="2898648"/>
            <a:ext cx="1993391" cy="896112"/>
          </a:xfrm>
          <a:prstGeom prst="roundRect">
            <a:avLst>
              <a:gd name="adj" fmla="val 8000"/>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646919" y="2971800"/>
            <a:ext cx="1993391" cy="749808"/>
          </a:xfrm>
          <a:prstGeom prst="rect">
            <a:avLst/>
          </a:prstGeom>
          <a:noFill/>
        </p:spPr>
        <p:txBody>
          <a:bodyPr wrap="square">
            <a:spAutoFit/>
          </a:bodyPr>
          <a:lstStyle/>
          <a:p>
            <a:pPr algn="l"/>
            <a:r>
              <a:rPr sz="950" b="0" i="0">
                <a:solidFill>
                  <a:srgbClr val="8B3DFF"/>
                </a:solidFill>
              </a:rPr>
              <a:t>Risk &amp; Mitigation Log</a:t>
            </a:r>
          </a:p>
        </p:txBody>
      </p:sp>
      <p:sp>
        <p:nvSpPr>
          <p:cNvPr id="61" name="Rounded Rectangle 60"/>
          <p:cNvSpPr/>
          <p:nvPr/>
        </p:nvSpPr>
        <p:spPr>
          <a:xfrm>
            <a:off x="9646919" y="3922776"/>
            <a:ext cx="1993391" cy="896112"/>
          </a:xfrm>
          <a:prstGeom prst="roundRect">
            <a:avLst>
              <a:gd name="adj" fmla="val 8000"/>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646919" y="3995928"/>
            <a:ext cx="1993391" cy="749808"/>
          </a:xfrm>
          <a:prstGeom prst="rect">
            <a:avLst/>
          </a:prstGeom>
          <a:noFill/>
        </p:spPr>
        <p:txBody>
          <a:bodyPr wrap="square">
            <a:spAutoFit/>
          </a:bodyPr>
          <a:lstStyle/>
          <a:p>
            <a:pPr algn="l"/>
            <a:r>
              <a:rPr sz="950" b="0" i="0">
                <a:solidFill>
                  <a:srgbClr val="8B3DFF"/>
                </a:solidFill>
              </a:rPr>
              <a:t>Week 2 Sprint Plan</a:t>
            </a:r>
          </a:p>
        </p:txBody>
      </p:sp>
      <p:sp>
        <p:nvSpPr>
          <p:cNvPr id="63" name="Rounded Rectangle 62"/>
          <p:cNvSpPr/>
          <p:nvPr/>
        </p:nvSpPr>
        <p:spPr>
          <a:xfrm>
            <a:off x="9646919" y="4946904"/>
            <a:ext cx="1993391" cy="896112"/>
          </a:xfrm>
          <a:prstGeom prst="roundRect">
            <a:avLst>
              <a:gd name="adj" fmla="val 8000"/>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9646919" y="5020056"/>
            <a:ext cx="1993391" cy="749808"/>
          </a:xfrm>
          <a:prstGeom prst="rect">
            <a:avLst/>
          </a:prstGeom>
          <a:noFill/>
        </p:spPr>
        <p:txBody>
          <a:bodyPr wrap="square">
            <a:spAutoFit/>
          </a:bodyPr>
          <a:lstStyle/>
          <a:p>
            <a:pPr algn="l"/>
            <a:r>
              <a:rPr sz="950" b="0" i="0">
                <a:solidFill>
                  <a:srgbClr val="8B3DFF"/>
                </a:solidFill>
              </a:rPr>
              <a:t>Deliverable Review</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73152" cy="6858000"/>
          </a:xfrm>
          <a:prstGeom prst="rect">
            <a:avLst/>
          </a:prstGeom>
          <a:solidFill>
            <a:srgbClr val="FF33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5486400" cy="347472"/>
          </a:xfrm>
          <a:prstGeom prst="rect">
            <a:avLst/>
          </a:prstGeom>
          <a:noFill/>
        </p:spPr>
        <p:txBody>
          <a:bodyPr wrap="square">
            <a:spAutoFit/>
          </a:bodyPr>
          <a:lstStyle/>
          <a:p>
            <a:pPr algn="l"/>
            <a:r>
              <a:rPr sz="1000" b="1" i="0">
                <a:solidFill>
                  <a:srgbClr val="FF3321"/>
                </a:solidFill>
              </a:rPr>
              <a:t>DATABRICKS AGENTIC AI</a:t>
            </a:r>
          </a:p>
        </p:txBody>
      </p:sp>
      <p:sp>
        <p:nvSpPr>
          <p:cNvPr id="4" name="TextBox 3"/>
          <p:cNvSpPr txBox="1"/>
          <p:nvPr/>
        </p:nvSpPr>
        <p:spPr>
          <a:xfrm>
            <a:off x="320040" y="475488"/>
            <a:ext cx="11430000" cy="658368"/>
          </a:xfrm>
          <a:prstGeom prst="rect">
            <a:avLst/>
          </a:prstGeom>
          <a:noFill/>
        </p:spPr>
        <p:txBody>
          <a:bodyPr wrap="square">
            <a:spAutoFit/>
          </a:bodyPr>
          <a:lstStyle/>
          <a:p>
            <a:pPr algn="l"/>
            <a:r>
              <a:rPr sz="2600" b="1" i="0">
                <a:solidFill>
                  <a:srgbClr val="FFFFFF"/>
                </a:solidFill>
              </a:rPr>
              <a:t>Lakehouse-Powered Finance Intelligence</a:t>
            </a:r>
          </a:p>
        </p:txBody>
      </p:sp>
      <p:sp>
        <p:nvSpPr>
          <p:cNvPr id="5" name="Rectangle 4"/>
          <p:cNvSpPr/>
          <p:nvPr/>
        </p:nvSpPr>
        <p:spPr>
          <a:xfrm>
            <a:off x="320040" y="1170432"/>
            <a:ext cx="11411712" cy="22860"/>
          </a:xfrm>
          <a:prstGeom prst="rect">
            <a:avLst/>
          </a:prstGeom>
          <a:solidFill>
            <a:srgbClr val="FF33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320040" y="1371600"/>
            <a:ext cx="5852160" cy="1170432"/>
          </a:xfrm>
          <a:prstGeom prst="roundRect">
            <a:avLst>
              <a:gd name="adj" fmla="val 8000"/>
            </a:avLst>
          </a:prstGeom>
          <a:solidFill>
            <a:srgbClr val="162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 y="1371600"/>
            <a:ext cx="73152" cy="1170432"/>
          </a:xfrm>
          <a:prstGeom prst="rect">
            <a:avLst/>
          </a:prstGeom>
          <a:solidFill>
            <a:srgbClr val="CD7F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0352" y="1463040"/>
            <a:ext cx="5394960" cy="292608"/>
          </a:xfrm>
          <a:prstGeom prst="rect">
            <a:avLst/>
          </a:prstGeom>
          <a:noFill/>
        </p:spPr>
        <p:txBody>
          <a:bodyPr wrap="square">
            <a:spAutoFit/>
          </a:bodyPr>
          <a:lstStyle/>
          <a:p>
            <a:pPr algn="l"/>
            <a:r>
              <a:rPr sz="900" b="1" i="0">
                <a:solidFill>
                  <a:srgbClr val="CD7F32"/>
                </a:solidFill>
              </a:rPr>
              <a:t>BRONZE LAYER  —  Raw Ingestion</a:t>
            </a:r>
          </a:p>
        </p:txBody>
      </p:sp>
      <p:sp>
        <p:nvSpPr>
          <p:cNvPr id="9" name="TextBox 8"/>
          <p:cNvSpPr txBox="1"/>
          <p:nvPr/>
        </p:nvSpPr>
        <p:spPr>
          <a:xfrm>
            <a:off x="530352" y="1773936"/>
            <a:ext cx="5394960" cy="658368"/>
          </a:xfrm>
          <a:prstGeom prst="rect">
            <a:avLst/>
          </a:prstGeom>
          <a:noFill/>
        </p:spPr>
        <p:txBody>
          <a:bodyPr wrap="square">
            <a:spAutoFit/>
          </a:bodyPr>
          <a:lstStyle/>
          <a:p>
            <a:pPr algn="l"/>
            <a:r>
              <a:rPr sz="900" b="0" i="0">
                <a:solidFill>
                  <a:srgbClr val="CCD6E0"/>
                </a:solidFill>
              </a:rPr>
              <a:t>Oracle ERP / SAP / Workday raw exports
GL transactions, AP invoices, AR ledger, Fixed assets</a:t>
            </a:r>
          </a:p>
        </p:txBody>
      </p:sp>
      <p:sp>
        <p:nvSpPr>
          <p:cNvPr id="10" name="Rounded Rectangle 9"/>
          <p:cNvSpPr/>
          <p:nvPr/>
        </p:nvSpPr>
        <p:spPr>
          <a:xfrm>
            <a:off x="320040" y="2670048"/>
            <a:ext cx="5852160" cy="1170432"/>
          </a:xfrm>
          <a:prstGeom prst="roundRect">
            <a:avLst>
              <a:gd name="adj" fmla="val 8000"/>
            </a:avLst>
          </a:prstGeom>
          <a:solidFill>
            <a:srgbClr val="162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20040" y="2670048"/>
            <a:ext cx="73152" cy="1170432"/>
          </a:xfrm>
          <a:prstGeom prst="rect">
            <a:avLst/>
          </a:prstGeom>
          <a:solidFill>
            <a:srgbClr val="C0C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0352" y="2761488"/>
            <a:ext cx="5394960" cy="292608"/>
          </a:xfrm>
          <a:prstGeom prst="rect">
            <a:avLst/>
          </a:prstGeom>
          <a:noFill/>
        </p:spPr>
        <p:txBody>
          <a:bodyPr wrap="square">
            <a:spAutoFit/>
          </a:bodyPr>
          <a:lstStyle/>
          <a:p>
            <a:pPr algn="l"/>
            <a:r>
              <a:rPr sz="900" b="1" i="0">
                <a:solidFill>
                  <a:srgbClr val="C0C0C0"/>
                </a:solidFill>
              </a:rPr>
              <a:t>SILVER LAYER  —  Cleansed &amp; Conformed</a:t>
            </a:r>
          </a:p>
        </p:txBody>
      </p:sp>
      <p:sp>
        <p:nvSpPr>
          <p:cNvPr id="13" name="TextBox 12"/>
          <p:cNvSpPr txBox="1"/>
          <p:nvPr/>
        </p:nvSpPr>
        <p:spPr>
          <a:xfrm>
            <a:off x="530352" y="3072384"/>
            <a:ext cx="5394960" cy="658368"/>
          </a:xfrm>
          <a:prstGeom prst="rect">
            <a:avLst/>
          </a:prstGeom>
          <a:noFill/>
        </p:spPr>
        <p:txBody>
          <a:bodyPr wrap="square">
            <a:spAutoFit/>
          </a:bodyPr>
          <a:lstStyle/>
          <a:p>
            <a:pPr algn="l"/>
            <a:r>
              <a:rPr sz="900" b="0" i="0">
                <a:solidFill>
                  <a:srgbClr val="CCD6E0"/>
                </a:solidFill>
              </a:rPr>
              <a:t>Standardised schemas, data quality checks
COA mapping, entity normalisation, currency translation</a:t>
            </a:r>
          </a:p>
        </p:txBody>
      </p:sp>
      <p:sp>
        <p:nvSpPr>
          <p:cNvPr id="14" name="Rounded Rectangle 13"/>
          <p:cNvSpPr/>
          <p:nvPr/>
        </p:nvSpPr>
        <p:spPr>
          <a:xfrm>
            <a:off x="320040" y="3968496"/>
            <a:ext cx="5852160" cy="1170432"/>
          </a:xfrm>
          <a:prstGeom prst="roundRect">
            <a:avLst>
              <a:gd name="adj" fmla="val 8000"/>
            </a:avLst>
          </a:prstGeom>
          <a:solidFill>
            <a:srgbClr val="162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20040" y="3968496"/>
            <a:ext cx="73152" cy="1170432"/>
          </a:xfrm>
          <a:prstGeom prst="rect">
            <a:avLst/>
          </a:prstGeom>
          <a:solidFill>
            <a:srgbClr val="FF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0352" y="4059935"/>
            <a:ext cx="5394960" cy="292608"/>
          </a:xfrm>
          <a:prstGeom prst="rect">
            <a:avLst/>
          </a:prstGeom>
          <a:noFill/>
        </p:spPr>
        <p:txBody>
          <a:bodyPr wrap="square">
            <a:spAutoFit/>
          </a:bodyPr>
          <a:lstStyle/>
          <a:p>
            <a:pPr algn="l"/>
            <a:r>
              <a:rPr sz="900" b="1" i="0">
                <a:solidFill>
                  <a:srgbClr val="FFC800"/>
                </a:solidFill>
              </a:rPr>
              <a:t>GOLD LAYER  —  Finance Analytics</a:t>
            </a:r>
          </a:p>
        </p:txBody>
      </p:sp>
      <p:sp>
        <p:nvSpPr>
          <p:cNvPr id="17" name="TextBox 16"/>
          <p:cNvSpPr txBox="1"/>
          <p:nvPr/>
        </p:nvSpPr>
        <p:spPr>
          <a:xfrm>
            <a:off x="530352" y="4370832"/>
            <a:ext cx="5394960" cy="658368"/>
          </a:xfrm>
          <a:prstGeom prst="rect">
            <a:avLst/>
          </a:prstGeom>
          <a:noFill/>
        </p:spPr>
        <p:txBody>
          <a:bodyPr wrap="square">
            <a:spAutoFit/>
          </a:bodyPr>
          <a:lstStyle/>
          <a:p>
            <a:pPr algn="l"/>
            <a:r>
              <a:rPr sz="900" b="0" i="0">
                <a:solidFill>
                  <a:srgbClr val="CCD6E0"/>
                </a:solidFill>
              </a:rPr>
              <a:t>Close metrics, KPI dashboards, EPM forecasts
Management reports, consolidation models</a:t>
            </a:r>
          </a:p>
        </p:txBody>
      </p:sp>
      <p:sp>
        <p:nvSpPr>
          <p:cNvPr id="18" name="Rounded Rectangle 17"/>
          <p:cNvSpPr/>
          <p:nvPr/>
        </p:nvSpPr>
        <p:spPr>
          <a:xfrm>
            <a:off x="6537960" y="1371600"/>
            <a:ext cx="5303520" cy="1170432"/>
          </a:xfrm>
          <a:prstGeom prst="roundRect">
            <a:avLst>
              <a:gd name="adj" fmla="val 8000"/>
            </a:avLst>
          </a:prstGeom>
          <a:solidFill>
            <a:srgbClr val="162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37960" y="1371600"/>
            <a:ext cx="5303520" cy="45720"/>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75120" y="1463040"/>
            <a:ext cx="4983480" cy="292608"/>
          </a:xfrm>
          <a:prstGeom prst="rect">
            <a:avLst/>
          </a:prstGeom>
          <a:noFill/>
        </p:spPr>
        <p:txBody>
          <a:bodyPr wrap="square">
            <a:spAutoFit/>
          </a:bodyPr>
          <a:lstStyle/>
          <a:p>
            <a:pPr algn="l"/>
            <a:r>
              <a:rPr sz="1100" b="1" i="0">
                <a:solidFill>
                  <a:srgbClr val="00C2FF"/>
                </a:solidFill>
              </a:rPr>
              <a:t>Vector Search</a:t>
            </a:r>
          </a:p>
        </p:txBody>
      </p:sp>
      <p:sp>
        <p:nvSpPr>
          <p:cNvPr id="21" name="TextBox 20"/>
          <p:cNvSpPr txBox="1"/>
          <p:nvPr/>
        </p:nvSpPr>
        <p:spPr>
          <a:xfrm>
            <a:off x="6675120" y="1773936"/>
            <a:ext cx="4983480" cy="658368"/>
          </a:xfrm>
          <a:prstGeom prst="rect">
            <a:avLst/>
          </a:prstGeom>
          <a:noFill/>
        </p:spPr>
        <p:txBody>
          <a:bodyPr wrap="square">
            <a:spAutoFit/>
          </a:bodyPr>
          <a:lstStyle/>
          <a:p>
            <a:pPr algn="l"/>
            <a:r>
              <a:rPr sz="900" b="0" i="0">
                <a:solidFill>
                  <a:srgbClr val="CCD6E0"/>
                </a:solidFill>
              </a:rPr>
              <a:t>Semantic search over IFRS/GAAP standards corpus
BGE-Large embeddings · 1500 token chunks</a:t>
            </a:r>
          </a:p>
        </p:txBody>
      </p:sp>
      <p:sp>
        <p:nvSpPr>
          <p:cNvPr id="22" name="Rounded Rectangle 21"/>
          <p:cNvSpPr/>
          <p:nvPr/>
        </p:nvSpPr>
        <p:spPr>
          <a:xfrm>
            <a:off x="6537960" y="2670048"/>
            <a:ext cx="5303520" cy="1170432"/>
          </a:xfrm>
          <a:prstGeom prst="roundRect">
            <a:avLst>
              <a:gd name="adj" fmla="val 8000"/>
            </a:avLst>
          </a:prstGeom>
          <a:solidFill>
            <a:srgbClr val="162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537960" y="2670048"/>
            <a:ext cx="5303520" cy="45720"/>
          </a:xfrm>
          <a:prstGeom prst="rect">
            <a:avLst/>
          </a:prstGeom>
          <a:solidFill>
            <a:srgbClr val="1B6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75120" y="2761488"/>
            <a:ext cx="4983480" cy="292608"/>
          </a:xfrm>
          <a:prstGeom prst="rect">
            <a:avLst/>
          </a:prstGeom>
          <a:noFill/>
        </p:spPr>
        <p:txBody>
          <a:bodyPr wrap="square">
            <a:spAutoFit/>
          </a:bodyPr>
          <a:lstStyle/>
          <a:p>
            <a:pPr algn="l"/>
            <a:r>
              <a:rPr sz="1100" b="1" i="0">
                <a:solidFill>
                  <a:srgbClr val="1B6CA8"/>
                </a:solidFill>
              </a:rPr>
              <a:t>SQL Warehousing</a:t>
            </a:r>
          </a:p>
        </p:txBody>
      </p:sp>
      <p:sp>
        <p:nvSpPr>
          <p:cNvPr id="25" name="TextBox 24"/>
          <p:cNvSpPr txBox="1"/>
          <p:nvPr/>
        </p:nvSpPr>
        <p:spPr>
          <a:xfrm>
            <a:off x="6675120" y="3072384"/>
            <a:ext cx="4983480" cy="658368"/>
          </a:xfrm>
          <a:prstGeom prst="rect">
            <a:avLst/>
          </a:prstGeom>
          <a:noFill/>
        </p:spPr>
        <p:txBody>
          <a:bodyPr wrap="square">
            <a:spAutoFit/>
          </a:bodyPr>
          <a:lstStyle/>
          <a:p>
            <a:pPr algn="l"/>
            <a:r>
              <a:rPr sz="900" b="0" i="0">
                <a:solidFill>
                  <a:srgbClr val="CCD6E0"/>
                </a:solidFill>
              </a:rPr>
              <a:t>Finance analytics queries · Close metrics · EPM data
Serverless compute · Auto-scaling</a:t>
            </a:r>
          </a:p>
        </p:txBody>
      </p:sp>
      <p:sp>
        <p:nvSpPr>
          <p:cNvPr id="26" name="Rounded Rectangle 25"/>
          <p:cNvSpPr/>
          <p:nvPr/>
        </p:nvSpPr>
        <p:spPr>
          <a:xfrm>
            <a:off x="6537960" y="3968496"/>
            <a:ext cx="5303520" cy="1170432"/>
          </a:xfrm>
          <a:prstGeom prst="roundRect">
            <a:avLst>
              <a:gd name="adj" fmla="val 8000"/>
            </a:avLst>
          </a:prstGeom>
          <a:solidFill>
            <a:srgbClr val="162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537960" y="3968496"/>
            <a:ext cx="5303520" cy="45720"/>
          </a:xfrm>
          <a:prstGeom prst="rect">
            <a:avLst/>
          </a:prstGeom>
          <a:solidFill>
            <a:srgbClr val="00D4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75120" y="4059935"/>
            <a:ext cx="4983480" cy="292608"/>
          </a:xfrm>
          <a:prstGeom prst="rect">
            <a:avLst/>
          </a:prstGeom>
          <a:noFill/>
        </p:spPr>
        <p:txBody>
          <a:bodyPr wrap="square">
            <a:spAutoFit/>
          </a:bodyPr>
          <a:lstStyle/>
          <a:p>
            <a:pPr algn="l"/>
            <a:r>
              <a:rPr sz="1100" b="1" i="0">
                <a:solidFill>
                  <a:srgbClr val="00D48A"/>
                </a:solidFill>
              </a:rPr>
              <a:t>MLflow</a:t>
            </a:r>
          </a:p>
        </p:txBody>
      </p:sp>
      <p:sp>
        <p:nvSpPr>
          <p:cNvPr id="29" name="TextBox 28"/>
          <p:cNvSpPr txBox="1"/>
          <p:nvPr/>
        </p:nvSpPr>
        <p:spPr>
          <a:xfrm>
            <a:off x="6675120" y="4370832"/>
            <a:ext cx="4983480" cy="658368"/>
          </a:xfrm>
          <a:prstGeom prst="rect">
            <a:avLst/>
          </a:prstGeom>
          <a:noFill/>
        </p:spPr>
        <p:txBody>
          <a:bodyPr wrap="square">
            <a:spAutoFit/>
          </a:bodyPr>
          <a:lstStyle/>
          <a:p>
            <a:pPr algn="l"/>
            <a:r>
              <a:rPr sz="900" b="0" i="0">
                <a:solidFill>
                  <a:srgbClr val="CCD6E0"/>
                </a:solidFill>
              </a:rPr>
              <a:t>Agent run tracking · Model governance
Audit trail for all AI-generated deliverables</a:t>
            </a:r>
          </a:p>
        </p:txBody>
      </p:sp>
      <p:sp>
        <p:nvSpPr>
          <p:cNvPr id="30" name="Rounded Rectangle 29"/>
          <p:cNvSpPr/>
          <p:nvPr/>
        </p:nvSpPr>
        <p:spPr>
          <a:xfrm>
            <a:off x="6537960" y="5266944"/>
            <a:ext cx="5303520" cy="1170432"/>
          </a:xfrm>
          <a:prstGeom prst="roundRect">
            <a:avLst>
              <a:gd name="adj" fmla="val 8000"/>
            </a:avLst>
          </a:prstGeom>
          <a:solidFill>
            <a:srgbClr val="162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537960" y="5266944"/>
            <a:ext cx="5303520" cy="4572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675120" y="5358383"/>
            <a:ext cx="4983480" cy="292608"/>
          </a:xfrm>
          <a:prstGeom prst="rect">
            <a:avLst/>
          </a:prstGeom>
          <a:noFill/>
        </p:spPr>
        <p:txBody>
          <a:bodyPr wrap="square">
            <a:spAutoFit/>
          </a:bodyPr>
          <a:lstStyle/>
          <a:p>
            <a:pPr algn="l"/>
            <a:r>
              <a:rPr sz="1100" b="1" i="0">
                <a:solidFill>
                  <a:srgbClr val="FF8C00"/>
                </a:solidFill>
              </a:rPr>
              <a:t>Unity Catalog</a:t>
            </a:r>
          </a:p>
        </p:txBody>
      </p:sp>
      <p:sp>
        <p:nvSpPr>
          <p:cNvPr id="33" name="TextBox 32"/>
          <p:cNvSpPr txBox="1"/>
          <p:nvPr/>
        </p:nvSpPr>
        <p:spPr>
          <a:xfrm>
            <a:off x="6675120" y="5669280"/>
            <a:ext cx="4983480" cy="658368"/>
          </a:xfrm>
          <a:prstGeom prst="rect">
            <a:avLst/>
          </a:prstGeom>
          <a:noFill/>
        </p:spPr>
        <p:txBody>
          <a:bodyPr wrap="square">
            <a:spAutoFit/>
          </a:bodyPr>
          <a:lstStyle/>
          <a:p>
            <a:pPr algn="l"/>
            <a:r>
              <a:rPr sz="900" b="0" i="0">
                <a:solidFill>
                  <a:srgbClr val="CCD6E0"/>
                </a:solidFill>
              </a:rPr>
              <a:t>Data governance · Lineage · Access control
Finance data certified for compliance</a:t>
            </a:r>
          </a:p>
        </p:txBody>
      </p:sp>
      <p:sp>
        <p:nvSpPr>
          <p:cNvPr id="34" name="Rounded Rectangle 33"/>
          <p:cNvSpPr/>
          <p:nvPr/>
        </p:nvSpPr>
        <p:spPr>
          <a:xfrm>
            <a:off x="320040" y="5376672"/>
            <a:ext cx="11521440" cy="1170432"/>
          </a:xfrm>
          <a:prstGeom prst="roundRect">
            <a:avLst>
              <a:gd name="adj" fmla="val 8000"/>
            </a:avLst>
          </a:prstGeom>
          <a:solidFill>
            <a:srgbClr val="162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20040" y="5376672"/>
            <a:ext cx="11521440" cy="36576"/>
          </a:xfrm>
          <a:prstGeom prst="rect">
            <a:avLst/>
          </a:prstGeom>
          <a:solidFill>
            <a:srgbClr val="FF33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02920" y="5468112"/>
            <a:ext cx="11064240" cy="329184"/>
          </a:xfrm>
          <a:prstGeom prst="rect">
            <a:avLst/>
          </a:prstGeom>
          <a:noFill/>
        </p:spPr>
        <p:txBody>
          <a:bodyPr wrap="square">
            <a:spAutoFit/>
          </a:bodyPr>
          <a:lstStyle/>
          <a:p>
            <a:pPr algn="l"/>
            <a:r>
              <a:rPr sz="1000" b="1" i="0">
                <a:solidFill>
                  <a:srgbClr val="FF3321"/>
                </a:solidFill>
              </a:rPr>
              <a:t>AGENTIC PATTERN:  Agent → Tool Call → Databricks API → Delta Lake → Vector Index → Agent Response</a:t>
            </a:r>
          </a:p>
        </p:txBody>
      </p:sp>
      <p:sp>
        <p:nvSpPr>
          <p:cNvPr id="37" name="TextBox 36"/>
          <p:cNvSpPr txBox="1"/>
          <p:nvPr/>
        </p:nvSpPr>
        <p:spPr>
          <a:xfrm>
            <a:off x="502920" y="5815584"/>
            <a:ext cx="11064240" cy="566928"/>
          </a:xfrm>
          <a:prstGeom prst="rect">
            <a:avLst/>
          </a:prstGeom>
          <a:noFill/>
        </p:spPr>
        <p:txBody>
          <a:bodyPr wrap="square">
            <a:spAutoFit/>
          </a:bodyPr>
          <a:lstStyle/>
          <a:p>
            <a:pPr algn="l"/>
            <a:r>
              <a:rPr sz="850" b="0" i="0">
                <a:solidFill>
                  <a:srgbClr val="CCD6E0"/>
                </a:solidFill>
              </a:rPr>
              <a:t>All agent executions are logged to MLflow with agent name, task, token count, latency and output summary. Databricks Jobs trigger nightly ERP data refreshes to keep the Gold layer current for real-time analytics.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D4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4572000" cy="347472"/>
          </a:xfrm>
          <a:prstGeom prst="rect">
            <a:avLst/>
          </a:prstGeom>
          <a:noFill/>
        </p:spPr>
        <p:txBody>
          <a:bodyPr wrap="square">
            <a:spAutoFit/>
          </a:bodyPr>
          <a:lstStyle/>
          <a:p>
            <a:pPr algn="l"/>
            <a:r>
              <a:rPr sz="1000" b="1" i="0">
                <a:solidFill>
                  <a:srgbClr val="00D48A"/>
                </a:solidFill>
              </a:rPr>
              <a:t>BUSINESS VALUE</a:t>
            </a:r>
          </a:p>
        </p:txBody>
      </p:sp>
      <p:sp>
        <p:nvSpPr>
          <p:cNvPr id="4" name="TextBox 3"/>
          <p:cNvSpPr txBox="1"/>
          <p:nvPr/>
        </p:nvSpPr>
        <p:spPr>
          <a:xfrm>
            <a:off x="320040" y="475488"/>
            <a:ext cx="11430000" cy="658368"/>
          </a:xfrm>
          <a:prstGeom prst="rect">
            <a:avLst/>
          </a:prstGeom>
          <a:noFill/>
        </p:spPr>
        <p:txBody>
          <a:bodyPr wrap="square">
            <a:spAutoFit/>
          </a:bodyPr>
          <a:lstStyle/>
          <a:p>
            <a:pPr algn="l"/>
            <a:r>
              <a:rPr sz="2600" b="1" i="0">
                <a:solidFill>
                  <a:srgbClr val="FFFFFF"/>
                </a:solidFill>
              </a:rPr>
              <a:t>Quantified Impact — Speed, Quality, Cost</a:t>
            </a:r>
          </a:p>
        </p:txBody>
      </p:sp>
      <p:sp>
        <p:nvSpPr>
          <p:cNvPr id="5" name="Rectangle 4"/>
          <p:cNvSpPr/>
          <p:nvPr/>
        </p:nvSpPr>
        <p:spPr>
          <a:xfrm>
            <a:off x="320040" y="1170432"/>
            <a:ext cx="11411712" cy="22860"/>
          </a:xfrm>
          <a:prstGeom prst="rect">
            <a:avLst/>
          </a:prstGeom>
          <a:solidFill>
            <a:srgbClr val="00D4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320040" y="1389888"/>
            <a:ext cx="1874519" cy="2176272"/>
          </a:xfrm>
          <a:prstGeom prst="roundRect">
            <a:avLst>
              <a:gd name="adj" fmla="val 8000"/>
            </a:avLst>
          </a:prstGeom>
          <a:solidFill>
            <a:srgbClr val="162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 y="1389888"/>
            <a:ext cx="1874519" cy="54864"/>
          </a:xfrm>
          <a:prstGeom prst="rect">
            <a:avLst/>
          </a:prstGeom>
          <a:solidFill>
            <a:srgbClr val="00D4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1554480"/>
            <a:ext cx="1874519" cy="960120"/>
          </a:xfrm>
          <a:prstGeom prst="rect">
            <a:avLst/>
          </a:prstGeom>
          <a:noFill/>
        </p:spPr>
        <p:txBody>
          <a:bodyPr wrap="square">
            <a:spAutoFit/>
          </a:bodyPr>
          <a:lstStyle/>
          <a:p>
            <a:pPr algn="ctr"/>
            <a:r>
              <a:rPr sz="3400" b="1" i="0">
                <a:solidFill>
                  <a:srgbClr val="00D48A"/>
                </a:solidFill>
              </a:rPr>
              <a:t>90%</a:t>
            </a:r>
          </a:p>
        </p:txBody>
      </p:sp>
      <p:sp>
        <p:nvSpPr>
          <p:cNvPr id="9" name="TextBox 8"/>
          <p:cNvSpPr txBox="1"/>
          <p:nvPr/>
        </p:nvSpPr>
        <p:spPr>
          <a:xfrm>
            <a:off x="320040" y="2487168"/>
            <a:ext cx="1874519" cy="868680"/>
          </a:xfrm>
          <a:prstGeom prst="rect">
            <a:avLst/>
          </a:prstGeom>
          <a:noFill/>
        </p:spPr>
        <p:txBody>
          <a:bodyPr wrap="square">
            <a:spAutoFit/>
          </a:bodyPr>
          <a:lstStyle/>
          <a:p>
            <a:pPr algn="ctr"/>
            <a:r>
              <a:rPr sz="1000" b="0" i="0">
                <a:solidFill>
                  <a:srgbClr val="CCD6E0"/>
                </a:solidFill>
              </a:rPr>
              <a:t>Reduction in
Documentation Cost</a:t>
            </a:r>
          </a:p>
        </p:txBody>
      </p:sp>
      <p:sp>
        <p:nvSpPr>
          <p:cNvPr id="10" name="Rounded Rectangle 9"/>
          <p:cNvSpPr/>
          <p:nvPr/>
        </p:nvSpPr>
        <p:spPr>
          <a:xfrm>
            <a:off x="2377440" y="1389888"/>
            <a:ext cx="1874519" cy="2176272"/>
          </a:xfrm>
          <a:prstGeom prst="roundRect">
            <a:avLst>
              <a:gd name="adj" fmla="val 8000"/>
            </a:avLst>
          </a:prstGeom>
          <a:solidFill>
            <a:srgbClr val="162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377440" y="1389888"/>
            <a:ext cx="1874519" cy="54864"/>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77440" y="1554480"/>
            <a:ext cx="1874519" cy="960120"/>
          </a:xfrm>
          <a:prstGeom prst="rect">
            <a:avLst/>
          </a:prstGeom>
          <a:noFill/>
        </p:spPr>
        <p:txBody>
          <a:bodyPr wrap="square">
            <a:spAutoFit/>
          </a:bodyPr>
          <a:lstStyle/>
          <a:p>
            <a:pPr algn="ctr"/>
            <a:r>
              <a:rPr sz="3400" b="1" i="0">
                <a:solidFill>
                  <a:srgbClr val="00C2FF"/>
                </a:solidFill>
              </a:rPr>
              <a:t>12x</a:t>
            </a:r>
          </a:p>
        </p:txBody>
      </p:sp>
      <p:sp>
        <p:nvSpPr>
          <p:cNvPr id="13" name="TextBox 12"/>
          <p:cNvSpPr txBox="1"/>
          <p:nvPr/>
        </p:nvSpPr>
        <p:spPr>
          <a:xfrm>
            <a:off x="2377440" y="2487168"/>
            <a:ext cx="1874519" cy="868680"/>
          </a:xfrm>
          <a:prstGeom prst="rect">
            <a:avLst/>
          </a:prstGeom>
          <a:noFill/>
        </p:spPr>
        <p:txBody>
          <a:bodyPr wrap="square">
            <a:spAutoFit/>
          </a:bodyPr>
          <a:lstStyle/>
          <a:p>
            <a:pPr algn="ctr"/>
            <a:r>
              <a:rPr sz="1000" b="0" i="0">
                <a:solidFill>
                  <a:srgbClr val="CCD6E0"/>
                </a:solidFill>
              </a:rPr>
              <a:t>Faster Deliverable
Production</a:t>
            </a:r>
          </a:p>
        </p:txBody>
      </p:sp>
      <p:sp>
        <p:nvSpPr>
          <p:cNvPr id="14" name="Rounded Rectangle 13"/>
          <p:cNvSpPr/>
          <p:nvPr/>
        </p:nvSpPr>
        <p:spPr>
          <a:xfrm>
            <a:off x="4434840" y="1389888"/>
            <a:ext cx="1874519" cy="2176272"/>
          </a:xfrm>
          <a:prstGeom prst="roundRect">
            <a:avLst>
              <a:gd name="adj" fmla="val 8000"/>
            </a:avLst>
          </a:prstGeom>
          <a:solidFill>
            <a:srgbClr val="162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34840" y="1389888"/>
            <a:ext cx="1874519" cy="54864"/>
          </a:xfrm>
          <a:prstGeom prst="rect">
            <a:avLst/>
          </a:prstGeom>
          <a:solidFill>
            <a:srgbClr val="FF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34840" y="1554480"/>
            <a:ext cx="1874519" cy="960120"/>
          </a:xfrm>
          <a:prstGeom prst="rect">
            <a:avLst/>
          </a:prstGeom>
          <a:noFill/>
        </p:spPr>
        <p:txBody>
          <a:bodyPr wrap="square">
            <a:spAutoFit/>
          </a:bodyPr>
          <a:lstStyle/>
          <a:p>
            <a:pPr algn="ctr"/>
            <a:r>
              <a:rPr sz="3400" b="1" i="0">
                <a:solidFill>
                  <a:srgbClr val="FFC800"/>
                </a:solidFill>
              </a:rPr>
              <a:t>1 Week</a:t>
            </a:r>
          </a:p>
        </p:txBody>
      </p:sp>
      <p:sp>
        <p:nvSpPr>
          <p:cNvPr id="17" name="TextBox 16"/>
          <p:cNvSpPr txBox="1"/>
          <p:nvPr/>
        </p:nvSpPr>
        <p:spPr>
          <a:xfrm>
            <a:off x="4434840" y="2487168"/>
            <a:ext cx="1874519" cy="868680"/>
          </a:xfrm>
          <a:prstGeom prst="rect">
            <a:avLst/>
          </a:prstGeom>
          <a:noFill/>
        </p:spPr>
        <p:txBody>
          <a:bodyPr wrap="square">
            <a:spAutoFit/>
          </a:bodyPr>
          <a:lstStyle/>
          <a:p>
            <a:pPr algn="ctr"/>
            <a:r>
              <a:rPr sz="1000" b="0" i="0">
                <a:solidFill>
                  <a:srgbClr val="CCD6E0"/>
                </a:solidFill>
              </a:rPr>
              <a:t>Full ERP/EPM
Kickoff Package</a:t>
            </a:r>
          </a:p>
        </p:txBody>
      </p:sp>
      <p:sp>
        <p:nvSpPr>
          <p:cNvPr id="18" name="Rounded Rectangle 17"/>
          <p:cNvSpPr/>
          <p:nvPr/>
        </p:nvSpPr>
        <p:spPr>
          <a:xfrm>
            <a:off x="320040" y="3785616"/>
            <a:ext cx="1874519" cy="2176272"/>
          </a:xfrm>
          <a:prstGeom prst="roundRect">
            <a:avLst>
              <a:gd name="adj" fmla="val 8000"/>
            </a:avLst>
          </a:prstGeom>
          <a:solidFill>
            <a:srgbClr val="162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20040" y="3785616"/>
            <a:ext cx="1874519" cy="54864"/>
          </a:xfrm>
          <a:prstGeom prst="rect">
            <a:avLst/>
          </a:prstGeom>
          <a:solidFill>
            <a:srgbClr val="1B6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20040" y="3950208"/>
            <a:ext cx="1874519" cy="960120"/>
          </a:xfrm>
          <a:prstGeom prst="rect">
            <a:avLst/>
          </a:prstGeom>
          <a:noFill/>
        </p:spPr>
        <p:txBody>
          <a:bodyPr wrap="square">
            <a:spAutoFit/>
          </a:bodyPr>
          <a:lstStyle/>
          <a:p>
            <a:pPr algn="ctr"/>
            <a:r>
              <a:rPr sz="3400" b="1" i="0">
                <a:solidFill>
                  <a:srgbClr val="1B6CA8"/>
                </a:solidFill>
              </a:rPr>
              <a:t>10+</a:t>
            </a:r>
          </a:p>
        </p:txBody>
      </p:sp>
      <p:sp>
        <p:nvSpPr>
          <p:cNvPr id="21" name="TextBox 20"/>
          <p:cNvSpPr txBox="1"/>
          <p:nvPr/>
        </p:nvSpPr>
        <p:spPr>
          <a:xfrm>
            <a:off x="320040" y="4882896"/>
            <a:ext cx="1874519" cy="868680"/>
          </a:xfrm>
          <a:prstGeom prst="rect">
            <a:avLst/>
          </a:prstGeom>
          <a:noFill/>
        </p:spPr>
        <p:txBody>
          <a:bodyPr wrap="square">
            <a:spAutoFit/>
          </a:bodyPr>
          <a:lstStyle/>
          <a:p>
            <a:pPr algn="ctr"/>
            <a:r>
              <a:rPr sz="1000" b="0" i="0">
                <a:solidFill>
                  <a:srgbClr val="CCD6E0"/>
                </a:solidFill>
              </a:rPr>
              <a:t>Specialist Agents
Working in Parallel</a:t>
            </a:r>
          </a:p>
        </p:txBody>
      </p:sp>
      <p:sp>
        <p:nvSpPr>
          <p:cNvPr id="22" name="Rounded Rectangle 21"/>
          <p:cNvSpPr/>
          <p:nvPr/>
        </p:nvSpPr>
        <p:spPr>
          <a:xfrm>
            <a:off x="2377440" y="3785616"/>
            <a:ext cx="1874519" cy="2176272"/>
          </a:xfrm>
          <a:prstGeom prst="roundRect">
            <a:avLst>
              <a:gd name="adj" fmla="val 8000"/>
            </a:avLst>
          </a:prstGeom>
          <a:solidFill>
            <a:srgbClr val="162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377440" y="3785616"/>
            <a:ext cx="1874519" cy="54864"/>
          </a:xfrm>
          <a:prstGeom prst="rect">
            <a:avLst/>
          </a:prstGeom>
          <a:solidFill>
            <a:srgbClr val="00D4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377440" y="3950208"/>
            <a:ext cx="1874519" cy="960120"/>
          </a:xfrm>
          <a:prstGeom prst="rect">
            <a:avLst/>
          </a:prstGeom>
          <a:noFill/>
        </p:spPr>
        <p:txBody>
          <a:bodyPr wrap="square">
            <a:spAutoFit/>
          </a:bodyPr>
          <a:lstStyle/>
          <a:p>
            <a:pPr algn="ctr"/>
            <a:r>
              <a:rPr sz="3400" b="1" i="0">
                <a:solidFill>
                  <a:srgbClr val="00D48A"/>
                </a:solidFill>
              </a:rPr>
              <a:t>100%</a:t>
            </a:r>
          </a:p>
        </p:txBody>
      </p:sp>
      <p:sp>
        <p:nvSpPr>
          <p:cNvPr id="25" name="TextBox 24"/>
          <p:cNvSpPr txBox="1"/>
          <p:nvPr/>
        </p:nvSpPr>
        <p:spPr>
          <a:xfrm>
            <a:off x="2377440" y="4882896"/>
            <a:ext cx="1874519" cy="868680"/>
          </a:xfrm>
          <a:prstGeom prst="rect">
            <a:avLst/>
          </a:prstGeom>
          <a:noFill/>
        </p:spPr>
        <p:txBody>
          <a:bodyPr wrap="square">
            <a:spAutoFit/>
          </a:bodyPr>
          <a:lstStyle/>
          <a:p>
            <a:pPr algn="ctr"/>
            <a:r>
              <a:rPr sz="1000" b="0" i="0">
                <a:solidFill>
                  <a:srgbClr val="CCD6E0"/>
                </a:solidFill>
              </a:rPr>
              <a:t>Standards-Grounded
IFRS/GAAP Output</a:t>
            </a:r>
          </a:p>
        </p:txBody>
      </p:sp>
      <p:sp>
        <p:nvSpPr>
          <p:cNvPr id="26" name="Rounded Rectangle 25"/>
          <p:cNvSpPr/>
          <p:nvPr/>
        </p:nvSpPr>
        <p:spPr>
          <a:xfrm>
            <a:off x="4434840" y="3785616"/>
            <a:ext cx="1874519" cy="2176272"/>
          </a:xfrm>
          <a:prstGeom prst="roundRect">
            <a:avLst>
              <a:gd name="adj" fmla="val 8000"/>
            </a:avLst>
          </a:prstGeom>
          <a:solidFill>
            <a:srgbClr val="162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34840" y="3785616"/>
            <a:ext cx="1874519" cy="54864"/>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34840" y="3950208"/>
            <a:ext cx="1874519" cy="960120"/>
          </a:xfrm>
          <a:prstGeom prst="rect">
            <a:avLst/>
          </a:prstGeom>
          <a:noFill/>
        </p:spPr>
        <p:txBody>
          <a:bodyPr wrap="square">
            <a:spAutoFit/>
          </a:bodyPr>
          <a:lstStyle/>
          <a:p>
            <a:pPr algn="ctr"/>
            <a:r>
              <a:rPr sz="3400" b="1" i="0">
                <a:solidFill>
                  <a:srgbClr val="FF8C00"/>
                </a:solidFill>
              </a:rPr>
              <a:t>$0 Extra</a:t>
            </a:r>
          </a:p>
        </p:txBody>
      </p:sp>
      <p:sp>
        <p:nvSpPr>
          <p:cNvPr id="29" name="TextBox 28"/>
          <p:cNvSpPr txBox="1"/>
          <p:nvPr/>
        </p:nvSpPr>
        <p:spPr>
          <a:xfrm>
            <a:off x="4434840" y="4882896"/>
            <a:ext cx="1874519" cy="868680"/>
          </a:xfrm>
          <a:prstGeom prst="rect">
            <a:avLst/>
          </a:prstGeom>
          <a:noFill/>
        </p:spPr>
        <p:txBody>
          <a:bodyPr wrap="square">
            <a:spAutoFit/>
          </a:bodyPr>
          <a:lstStyle/>
          <a:p>
            <a:pPr algn="ctr"/>
            <a:r>
              <a:rPr sz="1000" b="0" i="0">
                <a:solidFill>
                  <a:srgbClr val="CCD6E0"/>
                </a:solidFill>
              </a:rPr>
              <a:t>Per Additional
Deliverable Iteration</a:t>
            </a:r>
          </a:p>
        </p:txBody>
      </p:sp>
      <p:sp>
        <p:nvSpPr>
          <p:cNvPr id="30" name="Rounded Rectangle 29"/>
          <p:cNvSpPr/>
          <p:nvPr/>
        </p:nvSpPr>
        <p:spPr>
          <a:xfrm>
            <a:off x="6446520" y="1389888"/>
            <a:ext cx="5440680" cy="1261872"/>
          </a:xfrm>
          <a:prstGeom prst="roundRect">
            <a:avLst>
              <a:gd name="adj" fmla="val 8000"/>
            </a:avLst>
          </a:prstGeom>
          <a:solidFill>
            <a:srgbClr val="162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446520" y="1389888"/>
            <a:ext cx="5440680" cy="36576"/>
          </a:xfrm>
          <a:prstGeom prst="rect">
            <a:avLst/>
          </a:prstGeom>
          <a:solidFill>
            <a:srgbClr val="00D4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83680" y="1481328"/>
            <a:ext cx="5120640" cy="320040"/>
          </a:xfrm>
          <a:prstGeom prst="rect">
            <a:avLst/>
          </a:prstGeom>
          <a:noFill/>
        </p:spPr>
        <p:txBody>
          <a:bodyPr wrap="square">
            <a:spAutoFit/>
          </a:bodyPr>
          <a:lstStyle/>
          <a:p>
            <a:pPr algn="l"/>
            <a:r>
              <a:rPr sz="1100" b="1" i="0">
                <a:solidFill>
                  <a:srgbClr val="00D48A"/>
                </a:solidFill>
              </a:rPr>
              <a:t>Board-Ready Quality</a:t>
            </a:r>
          </a:p>
        </p:txBody>
      </p:sp>
      <p:sp>
        <p:nvSpPr>
          <p:cNvPr id="33" name="TextBox 32"/>
          <p:cNvSpPr txBox="1"/>
          <p:nvPr/>
        </p:nvSpPr>
        <p:spPr>
          <a:xfrm>
            <a:off x="6583680" y="1828800"/>
            <a:ext cx="5120640" cy="658368"/>
          </a:xfrm>
          <a:prstGeom prst="rect">
            <a:avLst/>
          </a:prstGeom>
          <a:noFill/>
        </p:spPr>
        <p:txBody>
          <a:bodyPr wrap="square">
            <a:spAutoFit/>
          </a:bodyPr>
          <a:lstStyle/>
          <a:p>
            <a:pPr algn="l"/>
            <a:r>
              <a:rPr sz="900" b="0" i="0">
                <a:solidFill>
                  <a:srgbClr val="CCD6E0"/>
                </a:solidFill>
              </a:rPr>
              <a:t>Every output written to Big-4 standard with proper IFRS/GAAP citations</a:t>
            </a:r>
          </a:p>
        </p:txBody>
      </p:sp>
      <p:sp>
        <p:nvSpPr>
          <p:cNvPr id="34" name="Rounded Rectangle 33"/>
          <p:cNvSpPr/>
          <p:nvPr/>
        </p:nvSpPr>
        <p:spPr>
          <a:xfrm>
            <a:off x="6446520" y="2779776"/>
            <a:ext cx="5440680" cy="1261872"/>
          </a:xfrm>
          <a:prstGeom prst="roundRect">
            <a:avLst>
              <a:gd name="adj" fmla="val 8000"/>
            </a:avLst>
          </a:prstGeom>
          <a:solidFill>
            <a:srgbClr val="162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446520" y="2779776"/>
            <a:ext cx="5440680" cy="36576"/>
          </a:xfrm>
          <a:prstGeom prst="rect">
            <a:avLst/>
          </a:prstGeom>
          <a:solidFill>
            <a:srgbClr val="00D4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583680" y="2871216"/>
            <a:ext cx="5120640" cy="320040"/>
          </a:xfrm>
          <a:prstGeom prst="rect">
            <a:avLst/>
          </a:prstGeom>
          <a:noFill/>
        </p:spPr>
        <p:txBody>
          <a:bodyPr wrap="square">
            <a:spAutoFit/>
          </a:bodyPr>
          <a:lstStyle/>
          <a:p>
            <a:pPr algn="l"/>
            <a:r>
              <a:rPr sz="1100" b="1" i="0">
                <a:solidFill>
                  <a:srgbClr val="00D48A"/>
                </a:solidFill>
              </a:rPr>
              <a:t>Auditability</a:t>
            </a:r>
          </a:p>
        </p:txBody>
      </p:sp>
      <p:sp>
        <p:nvSpPr>
          <p:cNvPr id="37" name="TextBox 36"/>
          <p:cNvSpPr txBox="1"/>
          <p:nvPr/>
        </p:nvSpPr>
        <p:spPr>
          <a:xfrm>
            <a:off x="6583680" y="3218688"/>
            <a:ext cx="5120640" cy="658368"/>
          </a:xfrm>
          <a:prstGeom prst="rect">
            <a:avLst/>
          </a:prstGeom>
          <a:noFill/>
        </p:spPr>
        <p:txBody>
          <a:bodyPr wrap="square">
            <a:spAutoFit/>
          </a:bodyPr>
          <a:lstStyle/>
          <a:p>
            <a:pPr algn="l"/>
            <a:r>
              <a:rPr sz="900" b="0" i="0">
                <a:solidFill>
                  <a:srgbClr val="CCD6E0"/>
                </a:solidFill>
              </a:rPr>
              <a:t>Full MLflow audit trail — every agent decision is traceable and reproducible</a:t>
            </a:r>
          </a:p>
        </p:txBody>
      </p:sp>
      <p:sp>
        <p:nvSpPr>
          <p:cNvPr id="38" name="Rounded Rectangle 37"/>
          <p:cNvSpPr/>
          <p:nvPr/>
        </p:nvSpPr>
        <p:spPr>
          <a:xfrm>
            <a:off x="6446520" y="4169664"/>
            <a:ext cx="5440680" cy="1261872"/>
          </a:xfrm>
          <a:prstGeom prst="roundRect">
            <a:avLst>
              <a:gd name="adj" fmla="val 8000"/>
            </a:avLst>
          </a:prstGeom>
          <a:solidFill>
            <a:srgbClr val="162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446520" y="4169664"/>
            <a:ext cx="5440680" cy="36576"/>
          </a:xfrm>
          <a:prstGeom prst="rect">
            <a:avLst/>
          </a:prstGeom>
          <a:solidFill>
            <a:srgbClr val="00D4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583680" y="4261104"/>
            <a:ext cx="5120640" cy="320040"/>
          </a:xfrm>
          <a:prstGeom prst="rect">
            <a:avLst/>
          </a:prstGeom>
          <a:noFill/>
        </p:spPr>
        <p:txBody>
          <a:bodyPr wrap="square">
            <a:spAutoFit/>
          </a:bodyPr>
          <a:lstStyle/>
          <a:p>
            <a:pPr algn="l"/>
            <a:r>
              <a:rPr sz="1100" b="1" i="0">
                <a:solidFill>
                  <a:srgbClr val="00D48A"/>
                </a:solidFill>
              </a:rPr>
              <a:t>Human-in-the-Loop</a:t>
            </a:r>
          </a:p>
        </p:txBody>
      </p:sp>
      <p:sp>
        <p:nvSpPr>
          <p:cNvPr id="41" name="TextBox 40"/>
          <p:cNvSpPr txBox="1"/>
          <p:nvPr/>
        </p:nvSpPr>
        <p:spPr>
          <a:xfrm>
            <a:off x="6583680" y="4608576"/>
            <a:ext cx="5120640" cy="658368"/>
          </a:xfrm>
          <a:prstGeom prst="rect">
            <a:avLst/>
          </a:prstGeom>
          <a:noFill/>
        </p:spPr>
        <p:txBody>
          <a:bodyPr wrap="square">
            <a:spAutoFit/>
          </a:bodyPr>
          <a:lstStyle/>
          <a:p>
            <a:pPr algn="l"/>
            <a:r>
              <a:rPr sz="900" b="0" i="0">
                <a:solidFill>
                  <a:srgbClr val="CCD6E0"/>
                </a:solidFill>
              </a:rPr>
              <a:t>Material accounting judgments always require human approval before delivery</a:t>
            </a:r>
          </a:p>
        </p:txBody>
      </p:sp>
      <p:sp>
        <p:nvSpPr>
          <p:cNvPr id="42" name="Rounded Rectangle 41"/>
          <p:cNvSpPr/>
          <p:nvPr/>
        </p:nvSpPr>
        <p:spPr>
          <a:xfrm>
            <a:off x="6446520" y="5559552"/>
            <a:ext cx="5440680" cy="1261872"/>
          </a:xfrm>
          <a:prstGeom prst="roundRect">
            <a:avLst>
              <a:gd name="adj" fmla="val 8000"/>
            </a:avLst>
          </a:prstGeom>
          <a:solidFill>
            <a:srgbClr val="162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446520" y="5559552"/>
            <a:ext cx="5440680" cy="36576"/>
          </a:xfrm>
          <a:prstGeom prst="rect">
            <a:avLst/>
          </a:prstGeom>
          <a:solidFill>
            <a:srgbClr val="00D4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583680" y="5650992"/>
            <a:ext cx="5120640" cy="320040"/>
          </a:xfrm>
          <a:prstGeom prst="rect">
            <a:avLst/>
          </a:prstGeom>
          <a:noFill/>
        </p:spPr>
        <p:txBody>
          <a:bodyPr wrap="square">
            <a:spAutoFit/>
          </a:bodyPr>
          <a:lstStyle/>
          <a:p>
            <a:pPr algn="l"/>
            <a:r>
              <a:rPr sz="1100" b="1" i="0">
                <a:solidFill>
                  <a:srgbClr val="00D48A"/>
                </a:solidFill>
              </a:rPr>
              <a:t>Extensible</a:t>
            </a:r>
          </a:p>
        </p:txBody>
      </p:sp>
      <p:sp>
        <p:nvSpPr>
          <p:cNvPr id="45" name="TextBox 44"/>
          <p:cNvSpPr txBox="1"/>
          <p:nvPr/>
        </p:nvSpPr>
        <p:spPr>
          <a:xfrm>
            <a:off x="6583680" y="5998464"/>
            <a:ext cx="5120640" cy="658368"/>
          </a:xfrm>
          <a:prstGeom prst="rect">
            <a:avLst/>
          </a:prstGeom>
          <a:noFill/>
        </p:spPr>
        <p:txBody>
          <a:bodyPr wrap="square">
            <a:spAutoFit/>
          </a:bodyPr>
          <a:lstStyle/>
          <a:p>
            <a:pPr algn="l"/>
            <a:r>
              <a:rPr sz="900" b="0" i="0">
                <a:solidFill>
                  <a:srgbClr val="CCD6E0"/>
                </a:solidFill>
              </a:rPr>
              <a:t>Add new specialist agents, models, or tools without rebuilding the core framework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4572000" cy="347472"/>
          </a:xfrm>
          <a:prstGeom prst="rect">
            <a:avLst/>
          </a:prstGeom>
          <a:noFill/>
        </p:spPr>
        <p:txBody>
          <a:bodyPr wrap="square">
            <a:spAutoFit/>
          </a:bodyPr>
          <a:lstStyle/>
          <a:p>
            <a:pPr algn="l"/>
            <a:r>
              <a:rPr sz="1000" b="1" i="0">
                <a:solidFill>
                  <a:srgbClr val="00C2FF"/>
                </a:solidFill>
              </a:rPr>
              <a:t>NEXT STEPS</a:t>
            </a:r>
          </a:p>
        </p:txBody>
      </p:sp>
      <p:sp>
        <p:nvSpPr>
          <p:cNvPr id="4" name="TextBox 3"/>
          <p:cNvSpPr txBox="1"/>
          <p:nvPr/>
        </p:nvSpPr>
        <p:spPr>
          <a:xfrm>
            <a:off x="320040" y="475488"/>
            <a:ext cx="11430000" cy="658368"/>
          </a:xfrm>
          <a:prstGeom prst="rect">
            <a:avLst/>
          </a:prstGeom>
          <a:noFill/>
        </p:spPr>
        <p:txBody>
          <a:bodyPr wrap="square">
            <a:spAutoFit/>
          </a:bodyPr>
          <a:lstStyle/>
          <a:p>
            <a:pPr algn="l"/>
            <a:r>
              <a:rPr sz="2600" b="1" i="0">
                <a:solidFill>
                  <a:srgbClr val="FFFFFF"/>
                </a:solidFill>
              </a:rPr>
              <a:t>How to Get Started — Immediate Actions</a:t>
            </a:r>
          </a:p>
        </p:txBody>
      </p:sp>
      <p:sp>
        <p:nvSpPr>
          <p:cNvPr id="5" name="Rectangle 4"/>
          <p:cNvSpPr/>
          <p:nvPr/>
        </p:nvSpPr>
        <p:spPr>
          <a:xfrm>
            <a:off x="320040" y="1170432"/>
            <a:ext cx="11411712" cy="22860"/>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320040" y="1389888"/>
            <a:ext cx="5577840" cy="2121408"/>
          </a:xfrm>
          <a:prstGeom prst="roundRect">
            <a:avLst>
              <a:gd name="adj" fmla="val 8000"/>
            </a:avLst>
          </a:prstGeom>
          <a:solidFill>
            <a:srgbClr val="162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 y="1389888"/>
            <a:ext cx="5577840" cy="45720"/>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29768" y="1554480"/>
            <a:ext cx="621792" cy="621792"/>
          </a:xfrm>
          <a:prstGeom prst="roundRect">
            <a:avLst>
              <a:gd name="adj" fmla="val 8000"/>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9768" y="1554480"/>
            <a:ext cx="621792" cy="621792"/>
          </a:xfrm>
          <a:prstGeom prst="rect">
            <a:avLst/>
          </a:prstGeom>
          <a:noFill/>
        </p:spPr>
        <p:txBody>
          <a:bodyPr wrap="square">
            <a:spAutoFit/>
          </a:bodyPr>
          <a:lstStyle/>
          <a:p>
            <a:pPr algn="ctr"/>
            <a:r>
              <a:rPr sz="1600" b="1" i="0">
                <a:solidFill>
                  <a:srgbClr val="0D1B2A"/>
                </a:solidFill>
              </a:rPr>
              <a:t>01</a:t>
            </a:r>
          </a:p>
        </p:txBody>
      </p:sp>
      <p:sp>
        <p:nvSpPr>
          <p:cNvPr id="10" name="TextBox 9"/>
          <p:cNvSpPr txBox="1"/>
          <p:nvPr/>
        </p:nvSpPr>
        <p:spPr>
          <a:xfrm>
            <a:off x="1188719" y="1591056"/>
            <a:ext cx="4572000" cy="411480"/>
          </a:xfrm>
          <a:prstGeom prst="rect">
            <a:avLst/>
          </a:prstGeom>
          <a:noFill/>
        </p:spPr>
        <p:txBody>
          <a:bodyPr wrap="square">
            <a:spAutoFit/>
          </a:bodyPr>
          <a:lstStyle/>
          <a:p>
            <a:pPr algn="l"/>
            <a:r>
              <a:rPr sz="1300" b="1" i="0">
                <a:solidFill>
                  <a:srgbClr val="00C2FF"/>
                </a:solidFill>
              </a:rPr>
              <a:t>Configure API Keys</a:t>
            </a:r>
          </a:p>
        </p:txBody>
      </p:sp>
      <p:sp>
        <p:nvSpPr>
          <p:cNvPr id="11" name="TextBox 10"/>
          <p:cNvSpPr txBox="1"/>
          <p:nvPr/>
        </p:nvSpPr>
        <p:spPr>
          <a:xfrm>
            <a:off x="1188719" y="2048256"/>
            <a:ext cx="4617720" cy="1298448"/>
          </a:xfrm>
          <a:prstGeom prst="rect">
            <a:avLst/>
          </a:prstGeom>
          <a:noFill/>
        </p:spPr>
        <p:txBody>
          <a:bodyPr wrap="square">
            <a:spAutoFit/>
          </a:bodyPr>
          <a:lstStyle/>
          <a:p>
            <a:pPr algn="l"/>
            <a:r>
              <a:rPr sz="900" b="0" i="0">
                <a:solidFill>
                  <a:srgbClr val="CCD6E0"/>
                </a:solidFill>
              </a:rPr>
              <a:t>Add ANTHROPIC_API_KEY + OPENAI_API_KEY to .env
Optional: DASHSCOPE_API_KEY (Qwen), CANVA_ACCESS_TOKEN,
DATABRICKS_HOST/TOKEN, LUMA_AI_KEY</a:t>
            </a:r>
          </a:p>
        </p:txBody>
      </p:sp>
      <p:sp>
        <p:nvSpPr>
          <p:cNvPr id="12" name="Rounded Rectangle 11"/>
          <p:cNvSpPr/>
          <p:nvPr/>
        </p:nvSpPr>
        <p:spPr>
          <a:xfrm>
            <a:off x="6647688" y="1389888"/>
            <a:ext cx="5577840" cy="2121408"/>
          </a:xfrm>
          <a:prstGeom prst="roundRect">
            <a:avLst>
              <a:gd name="adj" fmla="val 8000"/>
            </a:avLst>
          </a:prstGeom>
          <a:solidFill>
            <a:srgbClr val="162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647688" y="1389888"/>
            <a:ext cx="5577840" cy="45720"/>
          </a:xfrm>
          <a:prstGeom prst="rect">
            <a:avLst/>
          </a:prstGeom>
          <a:solidFill>
            <a:srgbClr val="1B6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757416" y="1554480"/>
            <a:ext cx="621792" cy="621792"/>
          </a:xfrm>
          <a:prstGeom prst="roundRect">
            <a:avLst>
              <a:gd name="adj" fmla="val 8000"/>
            </a:avLst>
          </a:prstGeom>
          <a:solidFill>
            <a:srgbClr val="1B6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57416" y="1554480"/>
            <a:ext cx="621792" cy="621792"/>
          </a:xfrm>
          <a:prstGeom prst="rect">
            <a:avLst/>
          </a:prstGeom>
          <a:noFill/>
        </p:spPr>
        <p:txBody>
          <a:bodyPr wrap="square">
            <a:spAutoFit/>
          </a:bodyPr>
          <a:lstStyle/>
          <a:p>
            <a:pPr algn="ctr"/>
            <a:r>
              <a:rPr sz="1600" b="1" i="0">
                <a:solidFill>
                  <a:srgbClr val="0D1B2A"/>
                </a:solidFill>
              </a:rPr>
              <a:t>02</a:t>
            </a:r>
          </a:p>
        </p:txBody>
      </p:sp>
      <p:sp>
        <p:nvSpPr>
          <p:cNvPr id="16" name="TextBox 15"/>
          <p:cNvSpPr txBox="1"/>
          <p:nvPr/>
        </p:nvSpPr>
        <p:spPr>
          <a:xfrm>
            <a:off x="7516367" y="1591056"/>
            <a:ext cx="4572000" cy="411480"/>
          </a:xfrm>
          <a:prstGeom prst="rect">
            <a:avLst/>
          </a:prstGeom>
          <a:noFill/>
        </p:spPr>
        <p:txBody>
          <a:bodyPr wrap="square">
            <a:spAutoFit/>
          </a:bodyPr>
          <a:lstStyle/>
          <a:p>
            <a:pPr algn="l"/>
            <a:r>
              <a:rPr sz="1300" b="1" i="0">
                <a:solidFill>
                  <a:srgbClr val="1B6CA8"/>
                </a:solidFill>
              </a:rPr>
              <a:t>Run Week 1 Package</a:t>
            </a:r>
          </a:p>
        </p:txBody>
      </p:sp>
      <p:sp>
        <p:nvSpPr>
          <p:cNvPr id="17" name="TextBox 16"/>
          <p:cNvSpPr txBox="1"/>
          <p:nvPr/>
        </p:nvSpPr>
        <p:spPr>
          <a:xfrm>
            <a:off x="7516367" y="2048256"/>
            <a:ext cx="4617720" cy="1298448"/>
          </a:xfrm>
          <a:prstGeom prst="rect">
            <a:avLst/>
          </a:prstGeom>
          <a:noFill/>
        </p:spPr>
        <p:txBody>
          <a:bodyPr wrap="square">
            <a:spAutoFit/>
          </a:bodyPr>
          <a:lstStyle/>
          <a:p>
            <a:pPr algn="l"/>
            <a:r>
              <a:rPr sz="900" b="0" i="0">
                <a:solidFill>
                  <a:srgbClr val="CCD6E0"/>
                </a:solidFill>
              </a:rPr>
              <a:t>python main.py --week1 "Your Client" "Project Name"
Generates: Project Plan, COA, EPM Requirements,
WFP Model, Data Migration Templates in &lt;60 seconds</a:t>
            </a:r>
          </a:p>
        </p:txBody>
      </p:sp>
      <p:sp>
        <p:nvSpPr>
          <p:cNvPr id="18" name="Rounded Rectangle 17"/>
          <p:cNvSpPr/>
          <p:nvPr/>
        </p:nvSpPr>
        <p:spPr>
          <a:xfrm>
            <a:off x="320040" y="3767328"/>
            <a:ext cx="5577840" cy="2121408"/>
          </a:xfrm>
          <a:prstGeom prst="roundRect">
            <a:avLst>
              <a:gd name="adj" fmla="val 8000"/>
            </a:avLst>
          </a:prstGeom>
          <a:solidFill>
            <a:srgbClr val="162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20040" y="3767328"/>
            <a:ext cx="5577840" cy="45720"/>
          </a:xfrm>
          <a:prstGeom prst="rect">
            <a:avLst/>
          </a:prstGeom>
          <a:solidFill>
            <a:srgbClr val="00D4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29768" y="3931920"/>
            <a:ext cx="621792" cy="621792"/>
          </a:xfrm>
          <a:prstGeom prst="roundRect">
            <a:avLst>
              <a:gd name="adj" fmla="val 8000"/>
            </a:avLst>
          </a:prstGeom>
          <a:solidFill>
            <a:srgbClr val="00D4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9768" y="3931920"/>
            <a:ext cx="621792" cy="621792"/>
          </a:xfrm>
          <a:prstGeom prst="rect">
            <a:avLst/>
          </a:prstGeom>
          <a:noFill/>
        </p:spPr>
        <p:txBody>
          <a:bodyPr wrap="square">
            <a:spAutoFit/>
          </a:bodyPr>
          <a:lstStyle/>
          <a:p>
            <a:pPr algn="ctr"/>
            <a:r>
              <a:rPr sz="1600" b="1" i="0">
                <a:solidFill>
                  <a:srgbClr val="0D1B2A"/>
                </a:solidFill>
              </a:rPr>
              <a:t>03</a:t>
            </a:r>
          </a:p>
        </p:txBody>
      </p:sp>
      <p:sp>
        <p:nvSpPr>
          <p:cNvPr id="22" name="TextBox 21"/>
          <p:cNvSpPr txBox="1"/>
          <p:nvPr/>
        </p:nvSpPr>
        <p:spPr>
          <a:xfrm>
            <a:off x="1188719" y="3968496"/>
            <a:ext cx="4572000" cy="411480"/>
          </a:xfrm>
          <a:prstGeom prst="rect">
            <a:avLst/>
          </a:prstGeom>
          <a:noFill/>
        </p:spPr>
        <p:txBody>
          <a:bodyPr wrap="square">
            <a:spAutoFit/>
          </a:bodyPr>
          <a:lstStyle/>
          <a:p>
            <a:pPr algn="l"/>
            <a:r>
              <a:rPr sz="1300" b="1" i="0">
                <a:solidFill>
                  <a:srgbClr val="00D48A"/>
                </a:solidFill>
              </a:rPr>
              <a:t>Connect Databricks</a:t>
            </a:r>
          </a:p>
        </p:txBody>
      </p:sp>
      <p:sp>
        <p:nvSpPr>
          <p:cNvPr id="23" name="TextBox 22"/>
          <p:cNvSpPr txBox="1"/>
          <p:nvPr/>
        </p:nvSpPr>
        <p:spPr>
          <a:xfrm>
            <a:off x="1188719" y="4425696"/>
            <a:ext cx="4617720" cy="1298448"/>
          </a:xfrm>
          <a:prstGeom prst="rect">
            <a:avLst/>
          </a:prstGeom>
          <a:noFill/>
        </p:spPr>
        <p:txBody>
          <a:bodyPr wrap="square">
            <a:spAutoFit/>
          </a:bodyPr>
          <a:lstStyle/>
          <a:p>
            <a:pPr algn="l"/>
            <a:r>
              <a:rPr sz="900" b="0" i="0">
                <a:solidFill>
                  <a:srgbClr val="CCD6E0"/>
                </a:solidFill>
              </a:rPr>
              <a:t>Populate standards vector index with IFRS/GAAP corpus
Configure Delta Lake schema for finance analytics
Enable MLflow audit trail for all agent runs</a:t>
            </a:r>
          </a:p>
        </p:txBody>
      </p:sp>
      <p:sp>
        <p:nvSpPr>
          <p:cNvPr id="24" name="Rounded Rectangle 23"/>
          <p:cNvSpPr/>
          <p:nvPr/>
        </p:nvSpPr>
        <p:spPr>
          <a:xfrm>
            <a:off x="6647688" y="3767328"/>
            <a:ext cx="5577840" cy="2121408"/>
          </a:xfrm>
          <a:prstGeom prst="roundRect">
            <a:avLst>
              <a:gd name="adj" fmla="val 8000"/>
            </a:avLst>
          </a:prstGeom>
          <a:solidFill>
            <a:srgbClr val="162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647688" y="3767328"/>
            <a:ext cx="5577840" cy="4572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757416" y="3931920"/>
            <a:ext cx="621792" cy="621792"/>
          </a:xfrm>
          <a:prstGeom prst="roundRect">
            <a:avLst>
              <a:gd name="adj" fmla="val 8000"/>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757416" y="3931920"/>
            <a:ext cx="621792" cy="621792"/>
          </a:xfrm>
          <a:prstGeom prst="rect">
            <a:avLst/>
          </a:prstGeom>
          <a:noFill/>
        </p:spPr>
        <p:txBody>
          <a:bodyPr wrap="square">
            <a:spAutoFit/>
          </a:bodyPr>
          <a:lstStyle/>
          <a:p>
            <a:pPr algn="ctr"/>
            <a:r>
              <a:rPr sz="1600" b="1" i="0">
                <a:solidFill>
                  <a:srgbClr val="0D1B2A"/>
                </a:solidFill>
              </a:rPr>
              <a:t>04</a:t>
            </a:r>
          </a:p>
        </p:txBody>
      </p:sp>
      <p:sp>
        <p:nvSpPr>
          <p:cNvPr id="28" name="TextBox 27"/>
          <p:cNvSpPr txBox="1"/>
          <p:nvPr/>
        </p:nvSpPr>
        <p:spPr>
          <a:xfrm>
            <a:off x="7516367" y="3968496"/>
            <a:ext cx="4572000" cy="411480"/>
          </a:xfrm>
          <a:prstGeom prst="rect">
            <a:avLst/>
          </a:prstGeom>
          <a:noFill/>
        </p:spPr>
        <p:txBody>
          <a:bodyPr wrap="square">
            <a:spAutoFit/>
          </a:bodyPr>
          <a:lstStyle/>
          <a:p>
            <a:pPr algn="l"/>
            <a:r>
              <a:rPr sz="1300" b="1" i="0">
                <a:solidFill>
                  <a:srgbClr val="FF8C00"/>
                </a:solidFill>
              </a:rPr>
              <a:t>Enable Video &amp; Canva</a:t>
            </a:r>
          </a:p>
        </p:txBody>
      </p:sp>
      <p:sp>
        <p:nvSpPr>
          <p:cNvPr id="29" name="TextBox 28"/>
          <p:cNvSpPr txBox="1"/>
          <p:nvPr/>
        </p:nvSpPr>
        <p:spPr>
          <a:xfrm>
            <a:off x="7516367" y="4425696"/>
            <a:ext cx="4617720" cy="1298448"/>
          </a:xfrm>
          <a:prstGeom prst="rect">
            <a:avLst/>
          </a:prstGeom>
          <a:noFill/>
        </p:spPr>
        <p:txBody>
          <a:bodyPr wrap="square">
            <a:spAutoFit/>
          </a:bodyPr>
          <a:lstStyle/>
          <a:p>
            <a:pPr algn="l"/>
            <a:r>
              <a:rPr sz="900" b="0" i="0">
                <a:solidFill>
                  <a:srgbClr val="CCD6E0"/>
                </a:solidFill>
              </a:rPr>
              <a:t>apt install ffmpeg  →  real MP4 animations
Add CANVA_ACCESS_TOKEN  →  live design generation
Add LUMA_AI_KEY  →  photorealistic AI videos</a:t>
            </a:r>
          </a:p>
        </p:txBody>
      </p:sp>
      <p:sp>
        <p:nvSpPr>
          <p:cNvPr id="30" name="Rectangle 29"/>
          <p:cNvSpPr/>
          <p:nvPr/>
        </p:nvSpPr>
        <p:spPr>
          <a:xfrm>
            <a:off x="320040" y="6382512"/>
            <a:ext cx="11521440" cy="384048"/>
          </a:xfrm>
          <a:prstGeom prst="rect">
            <a:avLst/>
          </a:prstGeom>
          <a:solidFill>
            <a:srgbClr val="1B6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6391656"/>
            <a:ext cx="11155680" cy="347472"/>
          </a:xfrm>
          <a:prstGeom prst="rect">
            <a:avLst/>
          </a:prstGeom>
          <a:noFill/>
        </p:spPr>
        <p:txBody>
          <a:bodyPr wrap="square">
            <a:spAutoFit/>
          </a:bodyPr>
          <a:lstStyle/>
          <a:p>
            <a:pPr algn="l"/>
            <a:r>
              <a:rPr sz="850" b="0" i="0">
                <a:solidFill>
                  <a:srgbClr val="FFFFFF"/>
                </a:solidFill>
              </a:rPr>
              <a:t>🚀  Built on branch: claude/multi-model-ai-agent-framework  ·  PR: github.com/rshetty66/Finance-Automation/pull/9  ·  Run: python main.py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